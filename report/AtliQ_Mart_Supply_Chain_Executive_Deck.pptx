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Introduce the project: my second portfolio project, built for Codebasics Resume Challenge #2 (AtliQ Mart).
- One-line pipeline framing: 6 CSV tables → Power Query star schema → 19 DAX measures → 5-page Power BI dashboard.
- Point at the OTIF headline stat as the story hook: 29.0% actual vs 65.9% target.
- Zero of 35 customers on target — that gap is the tension the whole deck resolves.
- Quick self-intro: Rishab Arya, data analyst, M.Tech Data Science candidate.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Set the business scene: FMCG manufacturer in Gujarat — Surat, Ahmedabad, Vadodara — with an expansion into new metros and Tier-1 cities pending.
- Trigger: key customers declined to renew annual supply contracts, citing late and incomplete deliveries.
- Read the guiding question aloud — it defines the dashboard's job: where, for whom, how badly, why.
- Name the five KPIs: OT%, IF%, OTIF%, LIFR, VOFR — each measured per customer against negotiated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Two fact grains: order-level (fact_orders_aggregate, 31,729 rows) and line-level (fact_order_lines, 57,096 rows).
- Four dimensions: customers (35), products (18), date (183 days), per-customer targets (35).
- Window: 01 Mar – 31 Aug 2022, three cities — Surat, Ahmedabad, Vadodara.
- Verification discipline as a portfolio differentiator: every figure recomputed from raw CSVs; LIFR 65.96% and VOFR 96.59% match cited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All cleaning happened in Power Query (M), not DAX — problems fixed at the source.
- The BOM-character trap is the classic silent killer: invisible bytes in headers would break relationships downstream.
- Two date formats parsed to a true Date type so time intelligence and the calendar connection work.
- Replace Values lesson: it failed silently on the wrong column — Capitalize Each Word fixed the casing properly.
- Renamed %-signed and spaced column names so DAX formulas stay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Why fact-to-fact joins are forbidden: two competing filter paths produce ambiguous numbers — the auto order_id join was deleted.
- Single-direction matters for the target filter: customers → targets, otherwise every matrix row shows the same grand-average target.
- mmm_yy sorted alphabetically (Apr before Feb) — fixed with a month_sort column set as the sort-by column.
- Auto date/time disabled — the model relies on its own dim_date, no hidden calendar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All 19 measures are explicit — zero implicit aggregations anywhere in the model.
- DIVIDE instead of "/" protects every ratio against divide-by-zero blanks.
- The SWITCH(TRUE()) ladder maps the OTIF gap to the four traffic-light hex colors wired into the matrix cells.
- A disconnected Metrics table + SELECTEDVALUE router switches the five KPIs on one trend chart.
- Close on the verified strip: OT 59.0 · IF 52.8 · OTIF 29.0 · LIFR 66.0 · VOFR 96.6.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Five pages: Overview, Customer Performance, Trends, Product Insights, Definitions &amp; Data Model.
- Overview is the executive entry point — five KPIs vs target, city split, monthly OTIF trend on one screen.
- The gap cards were moved up here during the restructure, so the one-screen answer already includes the deltas.
- Point at the gap chip: OTIF −36.9 pts is the headline the next four pages explain.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Matrix grain is one row per customer — all 35 accounts scored against their own negotiated targets.
- Colors encode gap to target, not raw values — read the legend before the cells.
- The Watchlist (city OTIF benchmark + lowest-OTIF accounts) feeds the renewal conversation.
- Verdict to land hard: 0 of 35 customers meet their OTIF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One trend chart, five metrics — a disconnected Metrics table + SELECTEDVALUE router does the switching.
- Disconnected means the slicer table cannot accidentally filter the fact tables.
- Drill months → weeks → days exposes the volatility hidden inside monthly averages.
- Daily OTIF swings 22–37%; the dynamic title (ISFILTERED) always names metric + drill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product lens complements the customer lens — who fails vs what fails.
- LIFR next to VOFR flags the SKUs that starve the orders.
- In-table sparklines flag deteriorating SKUs without adding another visual.
- Category slicer — Dairy / Food / Beverages — for focused category reviews.
- Page 5 makes the whole report self-documenting for a cold reader.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OTIF is the compound metric — an order only counts if it is on-time AND in-full, so 29.0% vs the 65.9% target is the one headline number.
- The kicker stat: 0 of 35 customers meet their OTIF target — nobody is winning; that is the renewal-risk story.
- Both pillars fail together: OT 59.0% vs 86.1% (−27.1 pts) and IF 52.8% vs 76.5% (−23.7 pts).
- The 27.8–30.1% city band is systemic — no local hero story; the flat 28.7–29.4% monthly average hides 22–37% daily swings.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Two independent failure modes — they need two different fixes, not one blanket program.
- Mode A is dispatch: the big-3 chains — Coolblue 13.7%, Acclaimed 15.5%, Lotus 16.3% OTIF — on ~30% of all orders.
- Mode B is planning: mid-tier accounts (Info Stores, Elite Mart, Sorefoz, Vijay) arrive on time (~72%) but in-fill only ~40%.
- LIFR 66.0% vs VOFR 96.6% — shortages are small and partial, so pick accuracy and SKU-level stock recover most of the gap.
- Lateness averages 1.7 days and never exceeds 3 — a scheduling buffer, not a transport redesign.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Map each workstream to its mode: Workstream 1 (dispatch &amp; scheduling) attacks Mode A; Workstream 2 (supply planning) attacks Mode B.
- Big-3 conversations first — they are ~30% of order volume, so retention starts where the risk concentrates.
- A 1–2 day scheduling buffer beats a fleet redesign — lateness is shallow (avg 1.7 days, never more than 3).
- VOFR 96.6% means shortfalls are small and partial — SKU-level safety stock and pick accuracy recover most of the in-full gap.
- Pilot in Vadodara — the weakest, highest-volume city — before scaling to the expansion metros.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Close on reproducibility — every headline number was recomputed from the raw CSVs: OT 59.0%, IF 52.8%, OTIF 29.0%, LIFR 66.0%, VOFR 96.6%.
- Invite the reviewer to open the .pbix — page 5 (shown here) documents the definitions and the star-schema model for auditing.
- Point to the open artifacts: the 6 source CSVs, the full PDF report, the executive deck, and the docs/ journal.
- Credit the source: Codebasics Resume Project Challenge #2 — AtliQ Mart scenario and data; the analysis and design are the author's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41127"/>
            <a:ext cx="157163" cy="35719"/>
          </a:xfrm>
          <a:prstGeom prst="roundRect">
            <a:avLst>
              <a:gd name="adj" fmla="val 79999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400050"/>
            <a:ext cx="42747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PORTFOLIO PROJECT · POWER BI · CODEBASICS CHALLENGE #2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917972"/>
            <a:ext cx="5277930" cy="590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7"/>
              </a:lnSpc>
              <a:buNone/>
            </a:pPr>
            <a:r>
              <a:rPr lang="en-US" sz="4307" b="1" spc="-65" kern="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AtliQ Mart</a:t>
            </a:r>
            <a:endParaRPr lang="en-US" sz="4307" dirty="0"/>
          </a:p>
        </p:txBody>
      </p:sp>
      <p:sp>
        <p:nvSpPr>
          <p:cNvPr id="5" name="Text 3"/>
          <p:cNvSpPr/>
          <p:nvPr/>
        </p:nvSpPr>
        <p:spPr>
          <a:xfrm>
            <a:off x="457200" y="1564928"/>
            <a:ext cx="3893344" cy="57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21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Service-Level Dashboard</a:t>
            </a:r>
            <a:endParaRPr lang="en-US" sz="1721" dirty="0"/>
          </a:p>
        </p:txBody>
      </p:sp>
      <p:sp>
        <p:nvSpPr>
          <p:cNvPr id="6" name="Text 4"/>
          <p:cNvSpPr/>
          <p:nvPr/>
        </p:nvSpPr>
        <p:spPr>
          <a:xfrm>
            <a:off x="457200" y="2269480"/>
            <a:ext cx="400050" cy="35719"/>
          </a:xfrm>
          <a:prstGeom prst="roundRect">
            <a:avLst>
              <a:gd name="adj" fmla="val 79999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490936"/>
            <a:ext cx="4043363" cy="601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03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supply-chain analytics: </a:t>
            </a:r>
            <a:pPr algn="l" indent="0" marL="0">
              <a:lnSpc>
                <a:spcPts val="1463"/>
              </a:lnSpc>
              <a:buNone/>
            </a:pPr>
            <a:r>
              <a:rPr lang="en-US" sz="903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pPr algn="l" indent="0" marL="0">
              <a:lnSpc>
                <a:spcPts val="1463"/>
              </a:lnSpc>
              <a:buNone/>
            </a:pPr>
            <a:r>
              <a:rPr lang="en-US" sz="903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CSV tables → Power Query star schema → </a:t>
            </a:r>
            <a:pPr algn="l" indent="0" marL="0">
              <a:lnSpc>
                <a:spcPts val="1463"/>
              </a:lnSpc>
              <a:buNone/>
            </a:pPr>
            <a:r>
              <a:rPr lang="en-US" sz="903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</a:t>
            </a:r>
            <a:pPr algn="l" indent="0" marL="0">
              <a:lnSpc>
                <a:spcPts val="1463"/>
              </a:lnSpc>
              <a:buNone/>
            </a:pPr>
            <a:r>
              <a:rPr lang="en-US" sz="903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DAX measures → </a:t>
            </a:r>
            <a:pPr algn="l" indent="0" marL="0">
              <a:lnSpc>
                <a:spcPts val="1463"/>
              </a:lnSpc>
              <a:buNone/>
            </a:pPr>
            <a:r>
              <a:rPr lang="en-US" sz="903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l" indent="0" marL="0">
              <a:lnSpc>
                <a:spcPts val="1463"/>
              </a:lnSpc>
              <a:buNone/>
            </a:pPr>
            <a:r>
              <a:rPr lang="en-US" sz="903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-page Power BI dashboard — with verified numbers and root-cause insights.</a:t>
            </a:r>
            <a:endParaRPr lang="en-US" sz="903" dirty="0"/>
          </a:p>
        </p:txBody>
      </p:sp>
      <p:sp>
        <p:nvSpPr>
          <p:cNvPr id="8" name="Text 6"/>
          <p:cNvSpPr/>
          <p:nvPr/>
        </p:nvSpPr>
        <p:spPr>
          <a:xfrm>
            <a:off x="460772" y="3961209"/>
            <a:ext cx="738374" cy="489347"/>
          </a:xfrm>
          <a:prstGeom prst="roundRect">
            <a:avLst>
              <a:gd name="adj" fmla="val 27251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066" y="4050506"/>
            <a:ext cx="745786" cy="16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294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31,729</a:t>
            </a:r>
            <a:endParaRPr lang="en-US" sz="1294" dirty="0"/>
          </a:p>
        </p:txBody>
      </p:sp>
      <p:sp>
        <p:nvSpPr>
          <p:cNvPr id="10" name="Text 8"/>
          <p:cNvSpPr/>
          <p:nvPr/>
        </p:nvSpPr>
        <p:spPr>
          <a:xfrm>
            <a:off x="578644" y="4243388"/>
            <a:ext cx="50263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orders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92014" y="3961209"/>
            <a:ext cx="738374" cy="489347"/>
          </a:xfrm>
          <a:prstGeom prst="roundRect">
            <a:avLst>
              <a:gd name="adj" fmla="val 27251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88308" y="4050506"/>
            <a:ext cx="745786" cy="16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294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57,096</a:t>
            </a:r>
            <a:endParaRPr lang="en-US" sz="1294" dirty="0"/>
          </a:p>
        </p:txBody>
      </p:sp>
      <p:sp>
        <p:nvSpPr>
          <p:cNvPr id="13" name="Text 11"/>
          <p:cNvSpPr/>
          <p:nvPr/>
        </p:nvSpPr>
        <p:spPr>
          <a:xfrm>
            <a:off x="1393380" y="4243388"/>
            <a:ext cx="53564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1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order lines</a:t>
            </a:r>
            <a:endParaRPr lang="en-US" sz="619" dirty="0"/>
          </a:p>
        </p:txBody>
      </p:sp>
      <p:sp>
        <p:nvSpPr>
          <p:cNvPr id="14" name="Text 12"/>
          <p:cNvSpPr/>
          <p:nvPr/>
        </p:nvSpPr>
        <p:spPr>
          <a:xfrm>
            <a:off x="2123256" y="3961209"/>
            <a:ext cx="967197" cy="489347"/>
          </a:xfrm>
          <a:prstGeom prst="roundRect">
            <a:avLst>
              <a:gd name="adj" fmla="val 27251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14600" y="4050506"/>
            <a:ext cx="784509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800" spc="22" kern="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OTIF</a:t>
            </a:r>
            <a:pPr algn="l" indent="0" marL="0">
              <a:lnSpc>
                <a:spcPts val="1294"/>
              </a:lnSpc>
              <a:buNone/>
            </a:pPr>
            <a:r>
              <a:rPr lang="en-US" sz="9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294"/>
              </a:lnSpc>
              <a:buNone/>
            </a:pPr>
            <a:r>
              <a:rPr lang="en-US" sz="1294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29.0%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41128" y="4243388"/>
            <a:ext cx="73145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1" kern="0" dirty="0">
                <a:solidFill>
                  <a:srgbClr val="5E6E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vs 65.9% target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3183322" y="3961209"/>
            <a:ext cx="1004925" cy="489347"/>
          </a:xfrm>
          <a:prstGeom prst="roundRect">
            <a:avLst>
              <a:gd name="adj" fmla="val 27251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01194" y="4050506"/>
            <a:ext cx="769181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94"/>
              </a:lnSpc>
              <a:buNone/>
            </a:pPr>
            <a:r>
              <a:rPr lang="en-US" sz="1294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 / 35</a:t>
            </a:r>
            <a:endParaRPr lang="en-US" sz="1294" dirty="0"/>
          </a:p>
        </p:txBody>
      </p:sp>
      <p:sp>
        <p:nvSpPr>
          <p:cNvPr id="19" name="Text 17"/>
          <p:cNvSpPr/>
          <p:nvPr/>
        </p:nvSpPr>
        <p:spPr>
          <a:xfrm>
            <a:off x="3301194" y="4243388"/>
            <a:ext cx="7691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1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customers on target</a:t>
            </a:r>
            <a:endParaRPr lang="en-US" sz="619" dirty="0"/>
          </a:p>
        </p:txBody>
      </p:sp>
      <p:sp>
        <p:nvSpPr>
          <p:cNvPr id="20" name="Shape 18"/>
          <p:cNvSpPr/>
          <p:nvPr/>
        </p:nvSpPr>
        <p:spPr>
          <a:xfrm>
            <a:off x="457200" y="4586288"/>
            <a:ext cx="4503353" cy="0"/>
          </a:xfrm>
          <a:prstGeom prst="line">
            <a:avLst/>
          </a:prstGeom>
          <a:noFill/>
          <a:ln w="7144">
            <a:solidFill>
              <a:srgbClr val="E7E1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82716"/>
            <a:ext cx="4503353" cy="291201"/>
          </a:xfrm>
          <a:prstGeom prst="rect">
            <a:avLst/>
          </a:prstGeom>
          <a:noFill/>
          <a:ln/>
        </p:spPr>
        <p:txBody>
          <a:bodyPr wrap="square" lIns="0" tIns="100013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Rishab Arya — Data Analyst · M.Tech Data Science candidate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03453" y="0"/>
            <a:ext cx="42863" cy="5143500"/>
          </a:xfrm>
          <a:prstGeom prst="rect">
            <a:avLst/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0" descr="/tmp/h2p-fit-1790422590978-qb9r7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6316" y="0"/>
            <a:ext cx="3797684" cy="5143500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316" y="0"/>
            <a:ext cx="3797684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2552"/>
            <a:ext cx="64294" cy="64294"/>
          </a:xfrm>
          <a:prstGeom prst="roundRect">
            <a:avLst>
              <a:gd name="adj" fmla="val 29630"/>
            </a:avLst>
          </a:prstGeom>
          <a:solidFill>
            <a:srgbClr val="0D5C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2931" y="385763"/>
            <a:ext cx="47619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17934"/>
            <a:ext cx="4629150" cy="64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9"/>
              </a:lnSpc>
              <a:buNone/>
            </a:pPr>
            <a:r>
              <a:rPr lang="en-US" sz="2025" b="1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customers are walking away over late, incomplete deliveries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57200" y="1357313"/>
            <a:ext cx="4829175" cy="37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AtliQ Mart is an FMCG manufacturer in Gujarat, India, supplying retail chains across Surat, Ahmedabad and Vadodara — and about to expand into new metros and Tier-1 cities.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457200" y="1790179"/>
            <a:ext cx="4829175" cy="562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Several key customers have declined to renew their annual supply contracts, citing late and incomplete deliveries. Leadership needed a daily service-level tracking dashboard before the expansion replicates the problem in new cities.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457200" y="2468054"/>
            <a:ext cx="4897710" cy="862161"/>
          </a:xfrm>
          <a:prstGeom prst="roundRect">
            <a:avLst>
              <a:gd name="adj" fmla="val 15467"/>
            </a:avLst>
          </a:prstGeom>
          <a:solidFill>
            <a:srgbClr val="0D5C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2938" y="2716299"/>
            <a:ext cx="365760" cy="39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3600" b="1" dirty="0">
                <a:solidFill>
                  <a:srgbClr val="E8A1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85838" y="2625217"/>
            <a:ext cx="4183335" cy="547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9"/>
              </a:lnSpc>
              <a:buNone/>
            </a:pPr>
            <a:r>
              <a:rPr lang="en-US" sz="928" i="1" dirty="0">
                <a:solidFill>
                  <a:srgbClr val="F2F7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is order fulfillment failing — for whom, how badly, and why — so the supply chain can be fixed before the expansion replicates the problem in new cities?</a:t>
            </a:r>
            <a:endParaRPr lang="en-US" sz="928" dirty="0"/>
          </a:p>
        </p:txBody>
      </p:sp>
      <p:sp>
        <p:nvSpPr>
          <p:cNvPr id="10" name="Text 8"/>
          <p:cNvSpPr/>
          <p:nvPr/>
        </p:nvSpPr>
        <p:spPr>
          <a:xfrm>
            <a:off x="457200" y="3889772"/>
            <a:ext cx="2022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83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THE DASHBOARD TRACKS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37531" y="3942457"/>
            <a:ext cx="3317379" cy="7144"/>
          </a:xfrm>
          <a:prstGeom prst="rect">
            <a:avLst/>
          </a:prstGeom>
          <a:solidFill>
            <a:srgbClr val="E7E1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0772" y="4091583"/>
            <a:ext cx="884709" cy="480417"/>
          </a:xfrm>
          <a:prstGeom prst="roundRect">
            <a:avLst>
              <a:gd name="adj" fmla="val 27757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4716" y="4173736"/>
            <a:ext cx="437200" cy="176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OT%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758577" y="4377333"/>
            <a:ext cx="36990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On-Time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424062" y="4091583"/>
            <a:ext cx="884709" cy="480417"/>
          </a:xfrm>
          <a:prstGeom prst="roundRect">
            <a:avLst>
              <a:gd name="adj" fmla="val 27757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758367" y="4173736"/>
            <a:ext cx="341259" cy="176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IF%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1712781" y="4377333"/>
            <a:ext cx="365653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In-Full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387352" y="4091583"/>
            <a:ext cx="999232" cy="480417"/>
          </a:xfrm>
          <a:prstGeom prst="roundRect">
            <a:avLst>
              <a:gd name="adj" fmla="val 27757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694645" y="4173736"/>
            <a:ext cx="607741" cy="176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OTIF%</a:t>
            </a:r>
            <a:endParaRPr lang="en-US" sz="956" dirty="0"/>
          </a:p>
        </p:txBody>
      </p:sp>
      <p:sp>
        <p:nvSpPr>
          <p:cNvPr id="20" name="Text 18"/>
          <p:cNvSpPr/>
          <p:nvPr/>
        </p:nvSpPr>
        <p:spPr>
          <a:xfrm>
            <a:off x="2627784" y="4377333"/>
            <a:ext cx="60739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On-Time In-Full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465165" y="4091583"/>
            <a:ext cx="884709" cy="480417"/>
          </a:xfrm>
          <a:prstGeom prst="roundRect">
            <a:avLst>
              <a:gd name="adj" fmla="val 27757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72570" y="4173736"/>
            <a:ext cx="426442" cy="176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LIFR</a:t>
            </a:r>
            <a:endParaRPr lang="en-US" sz="956" dirty="0"/>
          </a:p>
        </p:txBody>
      </p:sp>
      <p:sp>
        <p:nvSpPr>
          <p:cNvPr id="23" name="Text 21"/>
          <p:cNvSpPr/>
          <p:nvPr/>
        </p:nvSpPr>
        <p:spPr>
          <a:xfrm>
            <a:off x="3612632" y="4377333"/>
            <a:ext cx="665074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 Fill Rate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428455" y="4091583"/>
            <a:ext cx="922883" cy="480417"/>
          </a:xfrm>
          <a:prstGeom prst="roundRect">
            <a:avLst>
              <a:gd name="adj" fmla="val 27757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21126" y="4173736"/>
            <a:ext cx="533140" cy="1761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VOFR</a:t>
            </a:r>
            <a:endParaRPr lang="en-US" sz="956" dirty="0"/>
          </a:p>
        </p:txBody>
      </p:sp>
      <p:sp>
        <p:nvSpPr>
          <p:cNvPr id="26" name="Text 24"/>
          <p:cNvSpPr/>
          <p:nvPr/>
        </p:nvSpPr>
        <p:spPr>
          <a:xfrm>
            <a:off x="4616760" y="4377333"/>
            <a:ext cx="64010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Volume Fill Rate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57200" y="4705945"/>
            <a:ext cx="50006" cy="50006"/>
          </a:xfrm>
          <a:prstGeom prst="ellipse">
            <a:avLst/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64356" y="4661297"/>
            <a:ext cx="47905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measured per customer against negotiated targets.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29201" y="557213"/>
            <a:ext cx="2971800" cy="4229100"/>
          </a:xfrm>
          <a:prstGeom prst="roundRect">
            <a:avLst>
              <a:gd name="adj" fmla="val 4487"/>
            </a:avLst>
          </a:prstGeom>
          <a:solidFill>
            <a:srgbClr val="FBEE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832760" y="460772"/>
            <a:ext cx="2964656" cy="4221956"/>
          </a:xfrm>
          <a:prstGeom prst="roundRect">
            <a:avLst>
              <a:gd name="adj" fmla="val 4498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  <a:effectLst>
            <a:outerShdw sx="100000" sy="100000" kx="0" ky="0" algn="bl" rotWithShape="0" blurRad="266700" dist="95250" dir="5400000">
              <a:srgbClr val="20302C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0" descr="/tmp/h2p-fit-1790422591003-1vs2c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6332" y="464344"/>
            <a:ext cx="2957513" cy="4214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2552"/>
            <a:ext cx="157163" cy="35719"/>
          </a:xfrm>
          <a:prstGeom prst="roundRect">
            <a:avLst>
              <a:gd name="adj" fmla="val 79999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371475"/>
            <a:ext cx="8001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75072"/>
            <a:ext cx="8636000" cy="30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CSV tables, six months of order flow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60772" y="990079"/>
            <a:ext cx="2412913" cy="703659"/>
          </a:xfrm>
          <a:prstGeom prst="roundRect">
            <a:avLst>
              <a:gd name="adj" fmla="val 18951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2931" y="1185304"/>
            <a:ext cx="2148594" cy="1732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99"/>
              </a:lnSpc>
              <a:buNone/>
            </a:pPr>
            <a:r>
              <a:rPr lang="en-US" sz="1181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Mar – 31 Aug 2022</a:t>
            </a:r>
            <a:endParaRPr lang="en-US" sz="1181" dirty="0"/>
          </a:p>
        </p:txBody>
      </p:sp>
      <p:sp>
        <p:nvSpPr>
          <p:cNvPr id="7" name="Text 5"/>
          <p:cNvSpPr/>
          <p:nvPr/>
        </p:nvSpPr>
        <p:spPr>
          <a:xfrm>
            <a:off x="592931" y="1385999"/>
            <a:ext cx="21485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59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WINDOW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980841" y="990079"/>
            <a:ext cx="2094570" cy="703659"/>
          </a:xfrm>
          <a:prstGeom prst="roundRect">
            <a:avLst>
              <a:gd name="adj" fmla="val 18951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13001" y="1093663"/>
            <a:ext cx="1830251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13001" y="1343695"/>
            <a:ext cx="1830251" cy="106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59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CITIES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113001" y="1477640"/>
            <a:ext cx="1939979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Surat · Ahmedabad · Vadodara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82567" y="990079"/>
            <a:ext cx="1696752" cy="703659"/>
          </a:xfrm>
          <a:prstGeom prst="roundRect">
            <a:avLst>
              <a:gd name="adj" fmla="val 18951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14727" y="1160636"/>
            <a:ext cx="1432433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14727" y="1410667"/>
            <a:ext cx="14324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59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986476" y="990079"/>
            <a:ext cx="1696752" cy="703659"/>
          </a:xfrm>
          <a:prstGeom prst="roundRect">
            <a:avLst>
              <a:gd name="adj" fmla="val 18951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18635" y="1093663"/>
            <a:ext cx="1432433" cy="222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18635" y="1343695"/>
            <a:ext cx="1432433" cy="106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59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118635" y="1477640"/>
            <a:ext cx="143243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 3 categories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0772" y="1815182"/>
            <a:ext cx="8222456" cy="2499643"/>
          </a:xfrm>
          <a:prstGeom prst="roundRect">
            <a:avLst>
              <a:gd name="adj" fmla="val 5335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5794" y="1911623"/>
            <a:ext cx="38862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1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TABLE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50319" y="1911623"/>
            <a:ext cx="13716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86"/>
              </a:lnSpc>
              <a:buNone/>
            </a:pPr>
            <a:r>
              <a:rPr lang="en-US" sz="800" spc="71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ROWS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921919" y="1911623"/>
            <a:ext cx="4586288" cy="164592"/>
          </a:xfrm>
          <a:prstGeom prst="rect">
            <a:avLst/>
          </a:prstGeom>
          <a:noFill/>
          <a:ln/>
        </p:spPr>
        <p:txBody>
          <a:bodyPr wrap="none" lIns="200025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71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4344" y="2095574"/>
            <a:ext cx="8215313" cy="363327"/>
          </a:xfrm>
          <a:prstGeom prst="rect">
            <a:avLst/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5794" y="2204851"/>
            <a:ext cx="2550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838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fact_order_lines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56059" y="2196815"/>
            <a:ext cx="116586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57,096</a:t>
            </a:r>
            <a:endParaRPr lang="en-US" sz="844" dirty="0"/>
          </a:p>
        </p:txBody>
      </p:sp>
      <p:sp>
        <p:nvSpPr>
          <p:cNvPr id="26" name="Text 24"/>
          <p:cNvSpPr/>
          <p:nvPr/>
        </p:nvSpPr>
        <p:spPr>
          <a:xfrm>
            <a:off x="4121944" y="2202173"/>
            <a:ext cx="352276" cy="150019"/>
          </a:xfrm>
          <a:prstGeom prst="roundRect">
            <a:avLst>
              <a:gd name="adj" fmla="val 6342847"/>
            </a:avLst>
          </a:prstGeom>
          <a:solidFill>
            <a:srgbClr val="0D5C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921919" y="2202173"/>
            <a:ext cx="4586288" cy="162020"/>
          </a:xfrm>
          <a:prstGeom prst="rect">
            <a:avLst/>
          </a:prstGeom>
          <a:noFill/>
          <a:ln/>
        </p:spPr>
        <p:txBody>
          <a:bodyPr wrap="none" lIns="200025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spc="45" kern="0" dirty="0">
                <a:solidFill>
                  <a:srgbClr val="F2F7F5"/>
                </a:solidFill>
                <a:highlight>
                  <a:srgbClr val="0D5C4F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FACT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one row per order line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4344" y="2458901"/>
            <a:ext cx="8215313" cy="370470"/>
          </a:xfrm>
          <a:prstGeom prst="rect">
            <a:avLst/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4344" y="2462473"/>
            <a:ext cx="8215313" cy="0"/>
          </a:xfrm>
          <a:prstGeom prst="line">
            <a:avLst/>
          </a:prstGeom>
          <a:noFill/>
          <a:ln w="7144">
            <a:solidFill>
              <a:srgbClr val="0D5C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794" y="2575322"/>
            <a:ext cx="2550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838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fact_orders_aggregate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56059" y="2567285"/>
            <a:ext cx="116586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31,729</a:t>
            </a:r>
            <a:endParaRPr lang="en-US" sz="844" dirty="0"/>
          </a:p>
        </p:txBody>
      </p:sp>
      <p:sp>
        <p:nvSpPr>
          <p:cNvPr id="32" name="Text 30"/>
          <p:cNvSpPr/>
          <p:nvPr/>
        </p:nvSpPr>
        <p:spPr>
          <a:xfrm>
            <a:off x="4121944" y="2572643"/>
            <a:ext cx="352276" cy="150019"/>
          </a:xfrm>
          <a:prstGeom prst="roundRect">
            <a:avLst>
              <a:gd name="adj" fmla="val 6342847"/>
            </a:avLst>
          </a:prstGeom>
          <a:solidFill>
            <a:srgbClr val="0D5C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921919" y="2572643"/>
            <a:ext cx="4586288" cy="162020"/>
          </a:xfrm>
          <a:prstGeom prst="rect">
            <a:avLst/>
          </a:prstGeom>
          <a:noFill/>
          <a:ln/>
        </p:spPr>
        <p:txBody>
          <a:bodyPr wrap="square" lIns="200025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spc="45" kern="0" dirty="0">
                <a:solidFill>
                  <a:srgbClr val="F2F7F5"/>
                </a:solidFill>
                <a:highlight>
                  <a:srgbClr val="0D5C4F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FACT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one row per order (OT / IF / OTIF flags)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4344" y="2832943"/>
            <a:ext cx="8215313" cy="0"/>
          </a:xfrm>
          <a:prstGeom prst="line">
            <a:avLst/>
          </a:prstGeom>
          <a:noFill/>
          <a:ln w="7144">
            <a:solidFill>
              <a:srgbClr val="E7E1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794" y="2945792"/>
            <a:ext cx="28466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dim_customers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50319" y="2937756"/>
            <a:ext cx="137160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4121944" y="2943113"/>
            <a:ext cx="599182" cy="150019"/>
          </a:xfrm>
          <a:prstGeom prst="roundRect">
            <a:avLst>
              <a:gd name="adj" fmla="val 6342847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921919" y="2943113"/>
            <a:ext cx="4586288" cy="162020"/>
          </a:xfrm>
          <a:prstGeom prst="rect">
            <a:avLst/>
          </a:prstGeom>
          <a:noFill/>
          <a:ln/>
        </p:spPr>
        <p:txBody>
          <a:bodyPr wrap="square" lIns="200025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spc="45" kern="0" dirty="0">
                <a:solidFill>
                  <a:srgbClr val="0D5C4F"/>
                </a:solidFill>
                <a:highlight>
                  <a:srgbClr val="DEEBE6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DIMENSION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retail customers (chain + city)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4344" y="3203414"/>
            <a:ext cx="8215313" cy="0"/>
          </a:xfrm>
          <a:prstGeom prst="line">
            <a:avLst/>
          </a:prstGeom>
          <a:noFill/>
          <a:ln w="7144">
            <a:solidFill>
              <a:srgbClr val="E7E1D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794" y="3316263"/>
            <a:ext cx="28466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dim_products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550319" y="3308226"/>
            <a:ext cx="137160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endParaRPr lang="en-US" sz="844" dirty="0"/>
          </a:p>
        </p:txBody>
      </p:sp>
      <p:sp>
        <p:nvSpPr>
          <p:cNvPr id="42" name="Text 40"/>
          <p:cNvSpPr/>
          <p:nvPr/>
        </p:nvSpPr>
        <p:spPr>
          <a:xfrm>
            <a:off x="4121944" y="3313584"/>
            <a:ext cx="599182" cy="150019"/>
          </a:xfrm>
          <a:prstGeom prst="roundRect">
            <a:avLst>
              <a:gd name="adj" fmla="val 6342847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921919" y="3313584"/>
            <a:ext cx="4586288" cy="162020"/>
          </a:xfrm>
          <a:prstGeom prst="rect">
            <a:avLst/>
          </a:prstGeom>
          <a:noFill/>
          <a:ln/>
        </p:spPr>
        <p:txBody>
          <a:bodyPr wrap="square" lIns="200025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spc="45" kern="0" dirty="0">
                <a:solidFill>
                  <a:srgbClr val="0D5C4F"/>
                </a:solidFill>
                <a:highlight>
                  <a:srgbClr val="DEEBE6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DIMENSION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products and categories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4344" y="3573884"/>
            <a:ext cx="8215313" cy="0"/>
          </a:xfrm>
          <a:prstGeom prst="line">
            <a:avLst/>
          </a:prstGeom>
          <a:noFill/>
          <a:ln w="7144">
            <a:solidFill>
              <a:srgbClr val="E7E1D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794" y="3686733"/>
            <a:ext cx="31089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dim_date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50319" y="3678696"/>
            <a:ext cx="137160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183</a:t>
            </a:r>
            <a:endParaRPr lang="en-US" sz="844" dirty="0"/>
          </a:p>
        </p:txBody>
      </p:sp>
      <p:sp>
        <p:nvSpPr>
          <p:cNvPr id="47" name="Text 45"/>
          <p:cNvSpPr/>
          <p:nvPr/>
        </p:nvSpPr>
        <p:spPr>
          <a:xfrm>
            <a:off x="4121944" y="3684054"/>
            <a:ext cx="599182" cy="150019"/>
          </a:xfrm>
          <a:prstGeom prst="roundRect">
            <a:avLst>
              <a:gd name="adj" fmla="val 6342847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921919" y="3684054"/>
            <a:ext cx="4586288" cy="162020"/>
          </a:xfrm>
          <a:prstGeom prst="rect">
            <a:avLst/>
          </a:prstGeom>
          <a:noFill/>
          <a:ln/>
        </p:spPr>
        <p:txBody>
          <a:bodyPr wrap="square" lIns="200025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spc="45" kern="0" dirty="0">
                <a:solidFill>
                  <a:srgbClr val="0D5C4F"/>
                </a:solidFill>
                <a:highlight>
                  <a:srgbClr val="DEEBE6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DIMENSION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— daily calendar, Mar–Aug 2022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4344" y="3944355"/>
            <a:ext cx="8215313" cy="0"/>
          </a:xfrm>
          <a:prstGeom prst="line">
            <a:avLst/>
          </a:prstGeom>
          <a:noFill/>
          <a:ln w="7144">
            <a:solidFill>
              <a:srgbClr val="E7E1D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794" y="4057204"/>
            <a:ext cx="2550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dim_targets_orders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50319" y="4049167"/>
            <a:ext cx="137160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</a:t>
            </a:r>
            <a:endParaRPr lang="en-US" sz="844" dirty="0"/>
          </a:p>
        </p:txBody>
      </p:sp>
      <p:sp>
        <p:nvSpPr>
          <p:cNvPr id="52" name="Text 50"/>
          <p:cNvSpPr/>
          <p:nvPr/>
        </p:nvSpPr>
        <p:spPr>
          <a:xfrm>
            <a:off x="4121944" y="4054525"/>
            <a:ext cx="599182" cy="150019"/>
          </a:xfrm>
          <a:prstGeom prst="roundRect">
            <a:avLst>
              <a:gd name="adj" fmla="val 6342847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921919" y="4054525"/>
            <a:ext cx="4586288" cy="162020"/>
          </a:xfrm>
          <a:prstGeom prst="rect">
            <a:avLst/>
          </a:prstGeom>
          <a:noFill/>
          <a:ln/>
        </p:spPr>
        <p:txBody>
          <a:bodyPr wrap="square" lIns="200025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00" spc="45" kern="0" dirty="0">
                <a:solidFill>
                  <a:srgbClr val="0D5C4F"/>
                </a:solidFill>
                <a:highlight>
                  <a:srgbClr val="DEEBE6"/>
                </a:highlight>
                <a:latin typeface="Carlito" pitchFamily="34" charset="0"/>
                <a:ea typeface="Carlito" pitchFamily="34" charset="-122"/>
                <a:cs typeface="Carlito" pitchFamily="34" charset="-120"/>
              </a:rPr>
              <a:t>DIMENSION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per-customer OT / IF / OTIF targets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4418409"/>
            <a:ext cx="8229600" cy="439341"/>
          </a:xfrm>
          <a:prstGeom prst="roundRect">
            <a:avLst>
              <a:gd name="adj" fmla="val 26016"/>
            </a:avLst>
          </a:prstGeom>
          <a:solidFill>
            <a:srgbClr val="FBEE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85788" y="451127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56" name="Text 54"/>
          <p:cNvSpPr/>
          <p:nvPr/>
        </p:nvSpPr>
        <p:spPr>
          <a:xfrm>
            <a:off x="800100" y="4504134"/>
            <a:ext cx="7758113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20302C">
                    <a:alpha val="8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figure was recomputed from the raw CSVs during the build — chart exports checked by hand. Headline LIFR </a:t>
            </a:r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20302C">
                    <a:alpha val="8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65.96%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20302C">
                    <a:alpha val="8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VOFR </a:t>
            </a:r>
            <a:pPr algn="l" indent="0" marL="0">
              <a:lnSpc>
                <a:spcPts val="1055"/>
              </a:lnSpc>
              <a:buNone/>
            </a:pPr>
            <a:r>
              <a:rPr lang="en-US" sz="800" b="1" dirty="0">
                <a:solidFill>
                  <a:srgbClr val="20302C">
                    <a:alpha val="8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96.59%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20302C">
                    <a:alpha val="8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reproduce the values widely cited for this dataset, validating the metric definitions.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2552"/>
            <a:ext cx="157163" cy="35719"/>
          </a:xfrm>
          <a:prstGeom prst="roundRect">
            <a:avLst>
              <a:gd name="adj" fmla="val 79999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371475"/>
            <a:ext cx="8001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BUILD · PHASE 1 — POWER QUERY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75072"/>
            <a:ext cx="8636000" cy="30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quiet data traps, each fixed at the source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885825" y="1015082"/>
            <a:ext cx="43815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83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71975" y="1015082"/>
            <a:ext cx="43148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83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FIX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0772" y="1188318"/>
            <a:ext cx="8222456" cy="653095"/>
          </a:xfrm>
          <a:prstGeom prst="roundRect">
            <a:avLst>
              <a:gd name="adj" fmla="val 20418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2931" y="1357647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2451" y="1423727"/>
            <a:ext cx="22480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8382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2807940" y="1391245"/>
            <a:ext cx="754559" cy="121444"/>
          </a:xfrm>
          <a:prstGeom prst="roundRect">
            <a:avLst>
              <a:gd name="adj" fmla="val 39216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21556" y="1546957"/>
            <a:ext cx="497272" cy="121444"/>
          </a:xfrm>
          <a:prstGeom prst="roundRect">
            <a:avLst>
              <a:gd name="adj" fmla="val 39216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21556" y="1359098"/>
            <a:ext cx="2914650" cy="33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Invisible BOM characters hiding in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8382F"/>
                </a:solidFill>
                <a:highlight>
                  <a:srgbClr val="DEEBE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dim_date.date</a:t>
            </a:r>
            <a:pPr algn="l" indent="0" marL="0">
              <a:lnSpc>
                <a:spcPts val="1181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8382F"/>
                </a:solidFill>
                <a:highlight>
                  <a:srgbClr val="DEEBE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pPr algn="l" indent="0" marL="0">
              <a:lnSpc>
                <a:spcPts val="1181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headers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3993356" y="1400510"/>
            <a:ext cx="228600" cy="228600"/>
          </a:xfrm>
          <a:prstGeom prst="ellipse">
            <a:avLst/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14430" y="142158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4336256" y="1370149"/>
            <a:ext cx="421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Headers renamed character-by-character — the invisible bytes would silently break relationships later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0772" y="1934282"/>
            <a:ext cx="8222456" cy="653207"/>
          </a:xfrm>
          <a:prstGeom prst="roundRect">
            <a:avLst>
              <a:gd name="adj" fmla="val 20415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2931" y="2103723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2451" y="2169802"/>
            <a:ext cx="22480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8382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2424633" y="2137321"/>
            <a:ext cx="1320366" cy="121444"/>
          </a:xfrm>
          <a:prstGeom prst="roundRect">
            <a:avLst>
              <a:gd name="adj" fmla="val 39216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70570" y="2293032"/>
            <a:ext cx="651644" cy="121444"/>
          </a:xfrm>
          <a:prstGeom prst="roundRect">
            <a:avLst>
              <a:gd name="adj" fmla="val 39216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21556" y="2105174"/>
            <a:ext cx="2914650" cy="33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different date formats: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8382F"/>
                </a:solidFill>
                <a:highlight>
                  <a:srgbClr val="DEEBE6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"Tuesday, March 1, 2022"</a:t>
            </a:r>
            <a:pPr algn="l" indent="0" marL="0">
              <a:lnSpc>
                <a:spcPts val="1181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vs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8382F"/>
                </a:solidFill>
                <a:highlight>
                  <a:srgbClr val="DEEBE6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"01-Mar-22"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3993356" y="2146585"/>
            <a:ext cx="228600" cy="228600"/>
          </a:xfrm>
          <a:prstGeom prst="ellipse">
            <a:avLst/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014430" y="216765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4336256" y="2188555"/>
            <a:ext cx="42148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Both parsed to a true Date type, so time-intelligence and the calendar connection work</a:t>
            </a:r>
            <a:endParaRPr lang="en-US" sz="759" dirty="0"/>
          </a:p>
        </p:txBody>
      </p:sp>
      <p:sp>
        <p:nvSpPr>
          <p:cNvPr id="25" name="Text 23"/>
          <p:cNvSpPr/>
          <p:nvPr/>
        </p:nvSpPr>
        <p:spPr>
          <a:xfrm>
            <a:off x="460772" y="2680357"/>
            <a:ext cx="8222456" cy="653095"/>
          </a:xfrm>
          <a:prstGeom prst="roundRect">
            <a:avLst>
              <a:gd name="adj" fmla="val 20418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2931" y="2849687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82451" y="2915766"/>
            <a:ext cx="22480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8382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56" dirty="0"/>
          </a:p>
        </p:txBody>
      </p:sp>
      <p:sp>
        <p:nvSpPr>
          <p:cNvPr id="28" name="Text 26"/>
          <p:cNvSpPr/>
          <p:nvPr/>
        </p:nvSpPr>
        <p:spPr>
          <a:xfrm>
            <a:off x="1021556" y="2856830"/>
            <a:ext cx="2914650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Category casing broken: "beverages" vs "Dairy" / "Food"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3993356" y="2892549"/>
            <a:ext cx="228600" cy="228600"/>
          </a:xfrm>
          <a:prstGeom prst="ellipse">
            <a:avLst/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014430" y="291362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4336256" y="2862188"/>
            <a:ext cx="421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Transform → Format → Capitalize Each Word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after Replace Values failed silently by acting on the wrong column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0772" y="3426321"/>
            <a:ext cx="8222456" cy="653207"/>
          </a:xfrm>
          <a:prstGeom prst="roundRect">
            <a:avLst>
              <a:gd name="adj" fmla="val 20415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92931" y="3595762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2451" y="3661842"/>
            <a:ext cx="22480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8382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56" dirty="0"/>
          </a:p>
        </p:txBody>
      </p:sp>
      <p:sp>
        <p:nvSpPr>
          <p:cNvPr id="35" name="Text 33"/>
          <p:cNvSpPr/>
          <p:nvPr/>
        </p:nvSpPr>
        <p:spPr>
          <a:xfrm>
            <a:off x="1057275" y="3782169"/>
            <a:ext cx="806016" cy="121444"/>
          </a:xfrm>
          <a:prstGeom prst="roundRect">
            <a:avLst>
              <a:gd name="adj" fmla="val 39216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21556" y="3600004"/>
            <a:ext cx="2914650" cy="330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% signs polluting target column names (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8382F"/>
                </a:solidFill>
                <a:highlight>
                  <a:srgbClr val="DEEBE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ontime_target%</a:t>
            </a:r>
            <a:pPr algn="l" indent="0" marL="0">
              <a:lnSpc>
                <a:spcPts val="1181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3993356" y="3638624"/>
            <a:ext cx="228600" cy="228600"/>
          </a:xfrm>
          <a:prstGeom prst="ellipse">
            <a:avLst/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014430" y="365969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39" name="Text 37"/>
          <p:cNvSpPr/>
          <p:nvPr/>
        </p:nvSpPr>
        <p:spPr>
          <a:xfrm>
            <a:off x="4336256" y="3608263"/>
            <a:ext cx="42148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Renamed — values already numeric (87 = 87%), the % was decoration that made DAX formulas ugly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0772" y="4172396"/>
            <a:ext cx="8222456" cy="653207"/>
          </a:xfrm>
          <a:prstGeom prst="roundRect">
            <a:avLst>
              <a:gd name="adj" fmla="val 20415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92931" y="4341837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82451" y="4407917"/>
            <a:ext cx="22480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8382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956" dirty="0"/>
          </a:p>
        </p:txBody>
      </p:sp>
      <p:sp>
        <p:nvSpPr>
          <p:cNvPr id="43" name="Text 41"/>
          <p:cNvSpPr/>
          <p:nvPr/>
        </p:nvSpPr>
        <p:spPr>
          <a:xfrm>
            <a:off x="1021556" y="4348981"/>
            <a:ext cx="2914650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Spaces in "In Full" / "On Time" / "On Time In Full" columns</a:t>
            </a:r>
            <a:endParaRPr lang="en-US" sz="844" dirty="0"/>
          </a:p>
        </p:txBody>
      </p:sp>
      <p:sp>
        <p:nvSpPr>
          <p:cNvPr id="44" name="Text 42"/>
          <p:cNvSpPr/>
          <p:nvPr/>
        </p:nvSpPr>
        <p:spPr>
          <a:xfrm>
            <a:off x="3993356" y="4384700"/>
            <a:ext cx="228600" cy="228600"/>
          </a:xfrm>
          <a:prstGeom prst="ellipse">
            <a:avLst/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014430" y="440577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46" name="Text 44"/>
          <p:cNvSpPr/>
          <p:nvPr/>
        </p:nvSpPr>
        <p:spPr>
          <a:xfrm>
            <a:off x="4888446" y="4444529"/>
            <a:ext cx="445926" cy="121444"/>
          </a:xfrm>
          <a:prstGeom prst="roundRect">
            <a:avLst>
              <a:gd name="adj" fmla="val 39216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414851" y="4444529"/>
            <a:ext cx="445926" cy="121444"/>
          </a:xfrm>
          <a:prstGeom prst="roundRect">
            <a:avLst>
              <a:gd name="adj" fmla="val 39216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941256" y="4444529"/>
            <a:ext cx="857473" cy="121444"/>
          </a:xfrm>
          <a:prstGeom prst="roundRect">
            <a:avLst>
              <a:gd name="adj" fmla="val 39216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336256" y="4426669"/>
            <a:ext cx="43245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Renamed to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8382F"/>
                </a:solidFill>
                <a:highlight>
                  <a:srgbClr val="DEEBE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in_full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8382F"/>
                </a:solidFill>
                <a:highlight>
                  <a:srgbClr val="DEEBE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on_time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8382F"/>
                </a:solidFill>
                <a:highlight>
                  <a:srgbClr val="DEEBE6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on_time_in_full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98264"/>
            <a:ext cx="157163" cy="35719"/>
          </a:xfrm>
          <a:prstGeom prst="roundRect">
            <a:avLst>
              <a:gd name="adj" fmla="val 79999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357188"/>
            <a:ext cx="8001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BUILD · PHASE 2 — DATA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28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9"/>
              </a:lnSpc>
              <a:buNone/>
            </a:pPr>
            <a:r>
              <a:rPr lang="en-US" sz="1863" b="1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clean star schema — six one-way streets, no fact-to-fact joins</a:t>
            </a:r>
            <a:endParaRPr lang="en-US" sz="1863" dirty="0"/>
          </a:p>
        </p:txBody>
      </p:sp>
      <p:sp>
        <p:nvSpPr>
          <p:cNvPr id="5" name="Text 3"/>
          <p:cNvSpPr/>
          <p:nvPr/>
        </p:nvSpPr>
        <p:spPr>
          <a:xfrm>
            <a:off x="457200" y="93538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628650" y="936278"/>
            <a:ext cx="41862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83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MAP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0772" y="1110407"/>
            <a:ext cx="4350544" cy="3406229"/>
          </a:xfrm>
          <a:prstGeom prst="roundRect">
            <a:avLst>
              <a:gd name="adj" fmla="val 3915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5078" y="1274713"/>
            <a:ext cx="1878806" cy="821531"/>
          </a:xfrm>
          <a:prstGeom prst="roundRect">
            <a:avLst>
              <a:gd name="adj" fmla="val 16232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7238" y="1392585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dim_customers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57238" y="1764060"/>
            <a:ext cx="1614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</a:t>
            </a:r>
            <a:pPr algn="l" indent="0" marL="0">
              <a:lnSpc>
                <a:spcPts val="2025"/>
              </a:lnSpc>
              <a:buNone/>
            </a:pPr>
            <a:r>
              <a:rPr lang="en-US" sz="9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2025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rows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68203" y="1274713"/>
            <a:ext cx="1878806" cy="821531"/>
          </a:xfrm>
          <a:prstGeom prst="roundRect">
            <a:avLst>
              <a:gd name="adj" fmla="val 16232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00363" y="1392585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dim_date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00363" y="1764060"/>
            <a:ext cx="161448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183</a:t>
            </a:r>
            <a:pPr algn="l" indent="0" marL="0">
              <a:lnSpc>
                <a:spcPts val="2025"/>
              </a:lnSpc>
              <a:buNone/>
            </a:pPr>
            <a:r>
              <a:rPr lang="en-US" sz="9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2025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rows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506" y="2292028"/>
            <a:ext cx="1885950" cy="1042988"/>
          </a:xfrm>
          <a:prstGeom prst="roundRect">
            <a:avLst>
              <a:gd name="adj" fmla="val 12785"/>
            </a:avLst>
          </a:prstGeom>
          <a:solidFill>
            <a:srgbClr val="0D5C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4381" y="2639169"/>
            <a:ext cx="16002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fact_orders_aggregate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64381" y="2860625"/>
            <a:ext cx="1696212" cy="16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F2F7F5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order grain · 31,729 rows · OT/IF/OTIF flags</a:t>
            </a:r>
            <a:endParaRPr lang="en-US" sz="647" dirty="0"/>
          </a:p>
        </p:txBody>
      </p:sp>
      <p:sp>
        <p:nvSpPr>
          <p:cNvPr id="17" name="Text 15"/>
          <p:cNvSpPr/>
          <p:nvPr/>
        </p:nvSpPr>
        <p:spPr>
          <a:xfrm>
            <a:off x="2764631" y="2292028"/>
            <a:ext cx="1885950" cy="1042988"/>
          </a:xfrm>
          <a:prstGeom prst="roundRect">
            <a:avLst>
              <a:gd name="adj" fmla="val 12785"/>
            </a:avLst>
          </a:prstGeom>
          <a:solidFill>
            <a:srgbClr val="0D5C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907506" y="2639169"/>
            <a:ext cx="16002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fact_order_lines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07506" y="2860625"/>
            <a:ext cx="1696212" cy="16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647" dirty="0">
                <a:solidFill>
                  <a:srgbClr val="F2F7F5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 grain · 57,096 rows · delivery qty</a:t>
            </a:r>
            <a:endParaRPr lang="en-US" sz="647" dirty="0"/>
          </a:p>
        </p:txBody>
      </p:sp>
      <p:sp>
        <p:nvSpPr>
          <p:cNvPr id="20" name="Text 18"/>
          <p:cNvSpPr/>
          <p:nvPr/>
        </p:nvSpPr>
        <p:spPr>
          <a:xfrm>
            <a:off x="625078" y="3530798"/>
            <a:ext cx="1878806" cy="821531"/>
          </a:xfrm>
          <a:prstGeom prst="roundRect">
            <a:avLst>
              <a:gd name="adj" fmla="val 16232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7238" y="3648670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dim_products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57238" y="4020145"/>
            <a:ext cx="1614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pPr algn="l" indent="0" marL="0">
              <a:lnSpc>
                <a:spcPts val="2025"/>
              </a:lnSpc>
              <a:buNone/>
            </a:pPr>
            <a:r>
              <a:rPr lang="en-US" sz="9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2025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rows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68203" y="3530798"/>
            <a:ext cx="1878806" cy="821531"/>
          </a:xfrm>
          <a:prstGeom prst="roundRect">
            <a:avLst>
              <a:gd name="adj" fmla="val 16232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900363" y="3648670"/>
            <a:ext cx="1614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dim_targets_orders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900363" y="4020145"/>
            <a:ext cx="161448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</a:t>
            </a:r>
            <a:pPr algn="l" indent="0" marL="0">
              <a:lnSpc>
                <a:spcPts val="2025"/>
              </a:lnSpc>
              <a:buNone/>
            </a:pPr>
            <a:r>
              <a:rPr lang="en-US" sz="9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2025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rows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593131"/>
            <a:ext cx="858478" cy="263133"/>
          </a:xfrm>
          <a:prstGeom prst="roundRect">
            <a:avLst>
              <a:gd name="adj" fmla="val 3616223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64356" y="4696123"/>
            <a:ext cx="57150" cy="57150"/>
          </a:xfrm>
          <a:prstGeom prst="ellipse">
            <a:avLst/>
          </a:prstGeom>
          <a:solidFill>
            <a:srgbClr val="0D5C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78656" y="4663083"/>
            <a:ext cx="52986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relationships</a:t>
            </a:r>
            <a:endParaRPr lang="en-US" sz="647" dirty="0"/>
          </a:p>
        </p:txBody>
      </p:sp>
      <p:sp>
        <p:nvSpPr>
          <p:cNvPr id="29" name="Text 27"/>
          <p:cNvSpPr/>
          <p:nvPr/>
        </p:nvSpPr>
        <p:spPr>
          <a:xfrm>
            <a:off x="1387115" y="4593131"/>
            <a:ext cx="986172" cy="263133"/>
          </a:xfrm>
          <a:prstGeom prst="roundRect">
            <a:avLst>
              <a:gd name="adj" fmla="val 3616223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494272" y="4696123"/>
            <a:ext cx="57150" cy="57150"/>
          </a:xfrm>
          <a:prstGeom prst="ellipse">
            <a:avLst/>
          </a:prstGeom>
          <a:solidFill>
            <a:srgbClr val="0D5C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608572" y="4663083"/>
            <a:ext cx="657560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single-direction</a:t>
            </a:r>
            <a:endParaRPr lang="en-US" sz="647" dirty="0"/>
          </a:p>
        </p:txBody>
      </p:sp>
      <p:sp>
        <p:nvSpPr>
          <p:cNvPr id="32" name="Text 30"/>
          <p:cNvSpPr/>
          <p:nvPr/>
        </p:nvSpPr>
        <p:spPr>
          <a:xfrm>
            <a:off x="2448297" y="4609505"/>
            <a:ext cx="1517712" cy="230386"/>
          </a:xfrm>
          <a:prstGeom prst="roundRect">
            <a:avLst>
              <a:gd name="adj" fmla="val 4130231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551881" y="4696123"/>
            <a:ext cx="57150" cy="57150"/>
          </a:xfrm>
          <a:prstGeom prst="ellipse">
            <a:avLst/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666181" y="4663083"/>
            <a:ext cx="1268018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filters flow dimension → fact only</a:t>
            </a:r>
            <a:endParaRPr lang="en-US" sz="647" dirty="0"/>
          </a:p>
        </p:txBody>
      </p:sp>
      <p:sp>
        <p:nvSpPr>
          <p:cNvPr id="35" name="Text 33"/>
          <p:cNvSpPr/>
          <p:nvPr/>
        </p:nvSpPr>
        <p:spPr>
          <a:xfrm>
            <a:off x="5072063" y="93538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5243513" y="936278"/>
            <a:ext cx="34432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83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DECISIONS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75634" y="1110407"/>
            <a:ext cx="3607594" cy="862719"/>
          </a:xfrm>
          <a:prstGeom prst="roundRect">
            <a:avLst>
              <a:gd name="adj" fmla="val 15457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207794" y="1391692"/>
            <a:ext cx="300038" cy="300038"/>
          </a:xfrm>
          <a:prstGeom prst="ellipse">
            <a:avLst/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249049" y="1432947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477" dirty="0"/>
          </a:p>
        </p:txBody>
      </p:sp>
      <p:sp>
        <p:nvSpPr>
          <p:cNvPr id="40" name="Text 38"/>
          <p:cNvSpPr/>
          <p:nvPr/>
        </p:nvSpPr>
        <p:spPr>
          <a:xfrm>
            <a:off x="5607844" y="1245022"/>
            <a:ext cx="2943225" cy="29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Deleted the auto-created fact-to-fact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838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pPr algn="l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relationship</a:t>
            </a:r>
            <a:endParaRPr lang="en-US" sz="844" dirty="0"/>
          </a:p>
        </p:txBody>
      </p:sp>
      <p:sp>
        <p:nvSpPr>
          <p:cNvPr id="41" name="Text 39"/>
          <p:cNvSpPr/>
          <p:nvPr/>
        </p:nvSpPr>
        <p:spPr>
          <a:xfrm>
            <a:off x="5607844" y="1569281"/>
            <a:ext cx="2943225" cy="300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Facts must never filter each other; two competing filter paths produce ambiguous numbers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75634" y="2065995"/>
            <a:ext cx="3607594" cy="862719"/>
          </a:xfrm>
          <a:prstGeom prst="roundRect">
            <a:avLst>
              <a:gd name="adj" fmla="val 15457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207794" y="2347280"/>
            <a:ext cx="300038" cy="300038"/>
          </a:xfrm>
          <a:prstGeom prst="ellipse">
            <a:avLst/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49049" y="2388535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77" dirty="0"/>
          </a:p>
        </p:txBody>
      </p:sp>
      <p:sp>
        <p:nvSpPr>
          <p:cNvPr id="45" name="Text 43"/>
          <p:cNvSpPr/>
          <p:nvPr/>
        </p:nvSpPr>
        <p:spPr>
          <a:xfrm>
            <a:off x="5607844" y="2200610"/>
            <a:ext cx="2943225" cy="29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Rebuilt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838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dim_customers</a:t>
            </a:r>
            <a:pPr algn="l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↔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838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dim_targets_orders</a:t>
            </a:r>
            <a:pPr algn="l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as one-to-many, single direction</a:t>
            </a:r>
            <a:endParaRPr lang="en-US" sz="844" dirty="0"/>
          </a:p>
        </p:txBody>
      </p:sp>
      <p:sp>
        <p:nvSpPr>
          <p:cNvPr id="46" name="Text 44"/>
          <p:cNvSpPr/>
          <p:nvPr/>
        </p:nvSpPr>
        <p:spPr>
          <a:xfrm>
            <a:off x="5607844" y="2524869"/>
            <a:ext cx="2943225" cy="300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arrow must point customers → targets, or every matrix row shows the same grand-average target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75634" y="3021583"/>
            <a:ext cx="3607594" cy="862719"/>
          </a:xfrm>
          <a:prstGeom prst="roundRect">
            <a:avLst>
              <a:gd name="adj" fmla="val 15457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207794" y="3302868"/>
            <a:ext cx="300038" cy="300038"/>
          </a:xfrm>
          <a:prstGeom prst="ellipse">
            <a:avLst/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249049" y="3344123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⇅</a:t>
            </a:r>
            <a:endParaRPr lang="en-US" sz="1477" dirty="0"/>
          </a:p>
        </p:txBody>
      </p:sp>
      <p:sp>
        <p:nvSpPr>
          <p:cNvPr id="50" name="Text 48"/>
          <p:cNvSpPr/>
          <p:nvPr/>
        </p:nvSpPr>
        <p:spPr>
          <a:xfrm>
            <a:off x="5607844" y="3223840"/>
            <a:ext cx="3052953" cy="157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838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mmm_yy</a:t>
            </a:r>
            <a:pPr algn="l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sorted alphabetically (Apr before Feb)</a:t>
            </a:r>
            <a:endParaRPr lang="en-US" sz="844" dirty="0"/>
          </a:p>
        </p:txBody>
      </p:sp>
      <p:sp>
        <p:nvSpPr>
          <p:cNvPr id="51" name="Text 49"/>
          <p:cNvSpPr/>
          <p:nvPr/>
        </p:nvSpPr>
        <p:spPr>
          <a:xfrm>
            <a:off x="5607844" y="3408797"/>
            <a:ext cx="2943225" cy="3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Added a 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0838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month_sort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column in Power Query and set it as the sort-by column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075634" y="3977171"/>
            <a:ext cx="3607594" cy="862719"/>
          </a:xfrm>
          <a:prstGeom prst="roundRect">
            <a:avLst>
              <a:gd name="adj" fmla="val 15457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207794" y="4258456"/>
            <a:ext cx="300038" cy="300038"/>
          </a:xfrm>
          <a:prstGeom prst="ellipse">
            <a:avLst/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249049" y="4299712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77" dirty="0"/>
          </a:p>
        </p:txBody>
      </p:sp>
      <p:sp>
        <p:nvSpPr>
          <p:cNvPr id="55" name="Text 53"/>
          <p:cNvSpPr/>
          <p:nvPr/>
        </p:nvSpPr>
        <p:spPr>
          <a:xfrm>
            <a:off x="5607844" y="4251759"/>
            <a:ext cx="275225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Disabled Auto date/time</a:t>
            </a:r>
            <a:endParaRPr lang="en-US" sz="844" dirty="0"/>
          </a:p>
        </p:txBody>
      </p:sp>
      <p:sp>
        <p:nvSpPr>
          <p:cNvPr id="56" name="Text 54"/>
          <p:cNvSpPr/>
          <p:nvPr/>
        </p:nvSpPr>
        <p:spPr>
          <a:xfrm>
            <a:off x="5607844" y="4426781"/>
            <a:ext cx="2621198" cy="16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model uses its own 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0838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dim_date</a:t>
            </a:r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no hidden calendar tables</a:t>
            </a:r>
            <a:endParaRPr lang="en-US" sz="73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0050" y="328613"/>
            <a:ext cx="8636000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BUILD · PHASE 3 — DAX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00050" y="510778"/>
            <a:ext cx="8636000" cy="30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20" kern="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 explicit measures — zero implicit aggregations</a:t>
            </a:r>
            <a:endParaRPr lang="en-US" sz="2025" dirty="0"/>
          </a:p>
        </p:txBody>
      </p:sp>
      <p:sp>
        <p:nvSpPr>
          <p:cNvPr id="6" name="Text 2"/>
          <p:cNvSpPr/>
          <p:nvPr/>
        </p:nvSpPr>
        <p:spPr>
          <a:xfrm>
            <a:off x="400050" y="879351"/>
            <a:ext cx="400050" cy="35719"/>
          </a:xfrm>
          <a:prstGeom prst="roundRect">
            <a:avLst>
              <a:gd name="adj" fmla="val 79999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00050" y="1043657"/>
            <a:ext cx="4740101" cy="3194038"/>
          </a:xfrm>
          <a:prstGeom prst="roundRect">
            <a:avLst>
              <a:gd name="adj" fmla="val 4175"/>
            </a:avLst>
          </a:prstGeom>
          <a:solidFill>
            <a:srgbClr val="0838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71500" y="1172245"/>
            <a:ext cx="439720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E8A1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CORE KPI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71500" y="1322263"/>
            <a:ext cx="4397201" cy="1192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OTIF %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571500" y="1468934"/>
            <a:ext cx="4397201" cy="1192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A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71500" y="1615604"/>
            <a:ext cx="4397201" cy="119238"/>
          </a:xfrm>
          <a:prstGeom prst="rect">
            <a:avLst/>
          </a:prstGeom>
          <a:noFill/>
          <a:ln/>
        </p:spPr>
        <p:txBody>
          <a:bodyPr wrap="square" lIns="214313" tIns="0" rIns="0" bIns="0" rtlCol="0" anchor="t">
            <a:normAutofit/>
          </a:bodyPr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A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 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A9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fact_orders_aggregate[otif]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),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85813" y="1776561"/>
            <a:ext cx="914431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A9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[Total Orders]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71500" y="1908944"/>
            <a:ext cx="4397201" cy="173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71500" y="2112764"/>
            <a:ext cx="4397201" cy="7144"/>
          </a:xfrm>
          <a:prstGeom prst="rect">
            <a:avLst/>
          </a:prstGeom>
          <a:solidFill>
            <a:srgbClr val="E8F2EE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71500" y="2177058"/>
            <a:ext cx="439720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E8A1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GAP IN POINTS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71500" y="2327077"/>
            <a:ext cx="4397201" cy="1192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OTIF Gap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71500" y="2473747"/>
            <a:ext cx="4506929" cy="17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A9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[OTIF %]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A9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[OTIF Target %]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) * 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FBEED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71500" y="2677567"/>
            <a:ext cx="4397201" cy="7144"/>
          </a:xfrm>
          <a:prstGeom prst="rect">
            <a:avLst/>
          </a:prstGeom>
          <a:solidFill>
            <a:srgbClr val="E8F2EE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71500" y="2741861"/>
            <a:ext cx="4506929" cy="122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E8A13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TRAFFIC-LIGHT COLOR, WIRED INTO MATRIX CELLS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71500" y="2891879"/>
            <a:ext cx="4397201" cy="1192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OTIF Gap Color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71500" y="3038549"/>
            <a:ext cx="4397201" cy="1192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A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GapPoints = 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A9D6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[OTIF Gap]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71500" y="3185220"/>
            <a:ext cx="4397201" cy="1192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A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SWITCH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 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A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(),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699096" y="3367608"/>
            <a:ext cx="64294" cy="64294"/>
          </a:xfrm>
          <a:prstGeom prst="roundRect">
            <a:avLst>
              <a:gd name="adj" fmla="val 29630"/>
            </a:avLst>
          </a:prstGeom>
          <a:solidFill>
            <a:srgbClr val="63BE7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71500" y="3331890"/>
            <a:ext cx="4397201" cy="119238"/>
          </a:xfrm>
          <a:prstGeom prst="rect">
            <a:avLst/>
          </a:prstGeom>
          <a:noFill/>
          <a:ln/>
        </p:spPr>
        <p:txBody>
          <a:bodyPr wrap="square" lIns="214313" tIns="0" rIns="0" bIns="0" rtlCol="0" anchor="t">
            <a:normAutofit/>
          </a:bodyPr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GapPoints &gt;= 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FBEED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FBEED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"#63BE7B"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1810494" y="3514279"/>
            <a:ext cx="64294" cy="64294"/>
          </a:xfrm>
          <a:prstGeom prst="roundRect">
            <a:avLst>
              <a:gd name="adj" fmla="val 29630"/>
            </a:avLst>
          </a:prstGeom>
          <a:solidFill>
            <a:srgbClr val="FFEB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71500" y="3478560"/>
            <a:ext cx="4397201" cy="119238"/>
          </a:xfrm>
          <a:prstGeom prst="rect">
            <a:avLst/>
          </a:prstGeom>
          <a:noFill/>
          <a:ln/>
        </p:spPr>
        <p:txBody>
          <a:bodyPr wrap="square" lIns="214313" tIns="0" rIns="0" bIns="0" rtlCol="0" anchor="t">
            <a:normAutofit/>
          </a:bodyPr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GapPoints &gt;= 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FBEED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-10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FBEED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"#FFEB84"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1810494" y="3660949"/>
            <a:ext cx="64294" cy="64294"/>
          </a:xfrm>
          <a:prstGeom prst="roundRect">
            <a:avLst>
              <a:gd name="adj" fmla="val 29630"/>
            </a:avLst>
          </a:prstGeom>
          <a:solidFill>
            <a:srgbClr val="FDAE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71500" y="3625230"/>
            <a:ext cx="4397201" cy="119238"/>
          </a:xfrm>
          <a:prstGeom prst="rect">
            <a:avLst/>
          </a:prstGeom>
          <a:noFill/>
          <a:ln/>
        </p:spPr>
        <p:txBody>
          <a:bodyPr wrap="square" lIns="214313" tIns="0" rIns="0" bIns="0" rtlCol="0" anchor="t">
            <a:normAutofit/>
          </a:bodyPr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GapPoints &gt;= 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FBEED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-25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FBEED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"#FDAE61"</a:t>
            </a:r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807244" y="3807619"/>
            <a:ext cx="64294" cy="64294"/>
          </a:xfrm>
          <a:prstGeom prst="roundRect">
            <a:avLst>
              <a:gd name="adj" fmla="val 29630"/>
            </a:avLst>
          </a:prstGeom>
          <a:solidFill>
            <a:srgbClr val="F86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920888" y="3786188"/>
            <a:ext cx="643392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FBEED3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"#F8696B"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71500" y="3918570"/>
            <a:ext cx="4397201" cy="173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00" dirty="0">
                <a:solidFill>
                  <a:srgbClr val="E8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00050" y="431192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125" dirty="0"/>
          </a:p>
        </p:txBody>
      </p:sp>
      <p:sp>
        <p:nvSpPr>
          <p:cNvPr id="33" name="Text 29"/>
          <p:cNvSpPr/>
          <p:nvPr/>
        </p:nvSpPr>
        <p:spPr>
          <a:xfrm>
            <a:off x="571500" y="4309132"/>
            <a:ext cx="456865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disconnected Metrics table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SELECTEDVALUE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router powers the metric switcher on the trend charts.</a:t>
            </a:r>
            <a:endParaRPr lang="en-US" sz="675" dirty="0"/>
          </a:p>
        </p:txBody>
      </p:sp>
      <p:sp>
        <p:nvSpPr>
          <p:cNvPr id="34" name="Text 30"/>
          <p:cNvSpPr/>
          <p:nvPr/>
        </p:nvSpPr>
        <p:spPr>
          <a:xfrm>
            <a:off x="5315173" y="1047229"/>
            <a:ext cx="3425205" cy="1860947"/>
          </a:xfrm>
          <a:prstGeom prst="roundRect">
            <a:avLst>
              <a:gd name="adj" fmla="val 7166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5461620" y="1168673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36" name="Text 32"/>
          <p:cNvSpPr/>
          <p:nvPr/>
        </p:nvSpPr>
        <p:spPr>
          <a:xfrm>
            <a:off x="5654501" y="1150813"/>
            <a:ext cx="250712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 inventory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8174048" y="1146527"/>
            <a:ext cx="436032" cy="180023"/>
          </a:xfrm>
          <a:prstGeom prst="roundRect">
            <a:avLst>
              <a:gd name="adj" fmla="val 5285700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8127315" y="1156171"/>
            <a:ext cx="52949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 total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461620" y="1400845"/>
            <a:ext cx="185737" cy="183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069" dirty="0"/>
          </a:p>
        </p:txBody>
      </p:sp>
      <p:sp>
        <p:nvSpPr>
          <p:cNvPr id="40" name="Text 36"/>
          <p:cNvSpPr/>
          <p:nvPr/>
        </p:nvSpPr>
        <p:spPr>
          <a:xfrm>
            <a:off x="5733083" y="1436563"/>
            <a:ext cx="28608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base totals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5461620" y="1609799"/>
            <a:ext cx="3132311" cy="0"/>
          </a:xfrm>
          <a:prstGeom prst="line">
            <a:avLst/>
          </a:prstGeom>
          <a:noFill/>
          <a:ln w="7144">
            <a:solidFill>
              <a:srgbClr val="E7E1D3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461620" y="1649090"/>
            <a:ext cx="18573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069" dirty="0"/>
          </a:p>
        </p:txBody>
      </p:sp>
      <p:sp>
        <p:nvSpPr>
          <p:cNvPr id="43" name="Text 39"/>
          <p:cNvSpPr/>
          <p:nvPr/>
        </p:nvSpPr>
        <p:spPr>
          <a:xfrm>
            <a:off x="5733083" y="1684809"/>
            <a:ext cx="2860849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service-level KPIs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5461620" y="1858045"/>
            <a:ext cx="3132311" cy="0"/>
          </a:xfrm>
          <a:prstGeom prst="line">
            <a:avLst/>
          </a:prstGeom>
          <a:noFill/>
          <a:ln w="7144">
            <a:solidFill>
              <a:srgbClr val="E7E1D3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461620" y="1897335"/>
            <a:ext cx="18573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069" dirty="0"/>
          </a:p>
        </p:txBody>
      </p:sp>
      <p:sp>
        <p:nvSpPr>
          <p:cNvPr id="46" name="Text 42"/>
          <p:cNvSpPr/>
          <p:nvPr/>
        </p:nvSpPr>
        <p:spPr>
          <a:xfrm>
            <a:off x="5733083" y="1933054"/>
            <a:ext cx="2860849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targets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5461620" y="2106290"/>
            <a:ext cx="3132311" cy="0"/>
          </a:xfrm>
          <a:prstGeom prst="line">
            <a:avLst/>
          </a:prstGeom>
          <a:noFill/>
          <a:ln w="7144">
            <a:solidFill>
              <a:srgbClr val="E7E1D3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5461620" y="2145581"/>
            <a:ext cx="18573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069" dirty="0"/>
          </a:p>
        </p:txBody>
      </p:sp>
      <p:sp>
        <p:nvSpPr>
          <p:cNvPr id="49" name="Text 45"/>
          <p:cNvSpPr/>
          <p:nvPr/>
        </p:nvSpPr>
        <p:spPr>
          <a:xfrm>
            <a:off x="5733083" y="2181299"/>
            <a:ext cx="2860849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gaps (pts)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5461620" y="2354535"/>
            <a:ext cx="3132311" cy="0"/>
          </a:xfrm>
          <a:prstGeom prst="line">
            <a:avLst/>
          </a:prstGeom>
          <a:noFill/>
          <a:ln w="7144">
            <a:solidFill>
              <a:srgbClr val="E7E1D3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461620" y="2393826"/>
            <a:ext cx="18573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069" dirty="0"/>
          </a:p>
        </p:txBody>
      </p:sp>
      <p:sp>
        <p:nvSpPr>
          <p:cNvPr id="52" name="Text 48"/>
          <p:cNvSpPr/>
          <p:nvPr/>
        </p:nvSpPr>
        <p:spPr>
          <a:xfrm>
            <a:off x="5733083" y="2429545"/>
            <a:ext cx="2860849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conditional colors</a:t>
            </a:r>
            <a:endParaRPr lang="en-US" sz="800" dirty="0"/>
          </a:p>
        </p:txBody>
      </p:sp>
      <p:sp>
        <p:nvSpPr>
          <p:cNvPr id="53" name="Shape 49"/>
          <p:cNvSpPr/>
          <p:nvPr/>
        </p:nvSpPr>
        <p:spPr>
          <a:xfrm>
            <a:off x="5461620" y="2602781"/>
            <a:ext cx="3132311" cy="0"/>
          </a:xfrm>
          <a:prstGeom prst="line">
            <a:avLst/>
          </a:prstGeom>
          <a:noFill/>
          <a:ln w="7144">
            <a:solidFill>
              <a:srgbClr val="E7E1D3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5461620" y="2642071"/>
            <a:ext cx="18573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36"/>
              </a:lnSpc>
              <a:buNone/>
            </a:pPr>
            <a:r>
              <a:rPr lang="en-US" sz="1069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069" dirty="0"/>
          </a:p>
        </p:txBody>
      </p:sp>
      <p:sp>
        <p:nvSpPr>
          <p:cNvPr id="55" name="Text 51"/>
          <p:cNvSpPr/>
          <p:nvPr/>
        </p:nvSpPr>
        <p:spPr>
          <a:xfrm>
            <a:off x="5733083" y="2677790"/>
            <a:ext cx="2860849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switcher routers + dynamic chart title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5453989" y="2997473"/>
            <a:ext cx="738104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DAX HABITS</a:t>
            </a:r>
            <a:endParaRPr lang="en-US" sz="800" dirty="0"/>
          </a:p>
        </p:txBody>
      </p:sp>
      <p:sp>
        <p:nvSpPr>
          <p:cNvPr id="57" name="Text 53"/>
          <p:cNvSpPr/>
          <p:nvPr/>
        </p:nvSpPr>
        <p:spPr>
          <a:xfrm>
            <a:off x="5311601" y="2986757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5E6E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58" name="Text 54"/>
          <p:cNvSpPr/>
          <p:nvPr/>
        </p:nvSpPr>
        <p:spPr>
          <a:xfrm>
            <a:off x="5311601" y="3147492"/>
            <a:ext cx="3432349" cy="201811"/>
          </a:xfrm>
          <a:prstGeom prst="roundRect">
            <a:avLst>
              <a:gd name="adj" fmla="val 4715043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5390183" y="3194819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60" name="Text 56"/>
          <p:cNvSpPr/>
          <p:nvPr/>
        </p:nvSpPr>
        <p:spPr>
          <a:xfrm>
            <a:off x="5554489" y="3183210"/>
            <a:ext cx="308944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over 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safe divide-by-zero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5311601" y="3392165"/>
            <a:ext cx="3432349" cy="201811"/>
          </a:xfrm>
          <a:prstGeom prst="roundRect">
            <a:avLst>
              <a:gd name="adj" fmla="val 4715043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5390183" y="3439492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63" name="Text 59"/>
          <p:cNvSpPr/>
          <p:nvPr/>
        </p:nvSpPr>
        <p:spPr>
          <a:xfrm>
            <a:off x="5554489" y="3427884"/>
            <a:ext cx="308944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on 0/1 flags as counters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5311601" y="3636838"/>
            <a:ext cx="3432349" cy="201811"/>
          </a:xfrm>
          <a:prstGeom prst="roundRect">
            <a:avLst>
              <a:gd name="adj" fmla="val 4715043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5390183" y="3684166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66" name="Text 62"/>
          <p:cNvSpPr/>
          <p:nvPr/>
        </p:nvSpPr>
        <p:spPr>
          <a:xfrm>
            <a:off x="5554489" y="3672557"/>
            <a:ext cx="308944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 TRUE() )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ladders</a:t>
            </a:r>
            <a:endParaRPr lang="en-US" sz="800" dirty="0"/>
          </a:p>
        </p:txBody>
      </p:sp>
      <p:sp>
        <p:nvSpPr>
          <p:cNvPr id="67" name="Text 63"/>
          <p:cNvSpPr/>
          <p:nvPr/>
        </p:nvSpPr>
        <p:spPr>
          <a:xfrm>
            <a:off x="5311601" y="3881512"/>
            <a:ext cx="3432349" cy="201811"/>
          </a:xfrm>
          <a:prstGeom prst="roundRect">
            <a:avLst>
              <a:gd name="adj" fmla="val 4715043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4"/>
          <p:cNvSpPr/>
          <p:nvPr/>
        </p:nvSpPr>
        <p:spPr>
          <a:xfrm>
            <a:off x="5390183" y="3928839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69" name="Text 65"/>
          <p:cNvSpPr/>
          <p:nvPr/>
        </p:nvSpPr>
        <p:spPr>
          <a:xfrm>
            <a:off x="5554489" y="3917231"/>
            <a:ext cx="308944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… RETURN</a:t>
            </a:r>
            <a:endParaRPr lang="en-US" sz="800" dirty="0"/>
          </a:p>
        </p:txBody>
      </p:sp>
      <p:sp>
        <p:nvSpPr>
          <p:cNvPr id="70" name="Text 66"/>
          <p:cNvSpPr/>
          <p:nvPr/>
        </p:nvSpPr>
        <p:spPr>
          <a:xfrm>
            <a:off x="5311601" y="4126185"/>
            <a:ext cx="3432349" cy="201811"/>
          </a:xfrm>
          <a:prstGeom prst="roundRect">
            <a:avLst>
              <a:gd name="adj" fmla="val 4715043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7"/>
          <p:cNvSpPr/>
          <p:nvPr/>
        </p:nvSpPr>
        <p:spPr>
          <a:xfrm>
            <a:off x="5390183" y="4173513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72" name="Text 68"/>
          <p:cNvSpPr/>
          <p:nvPr/>
        </p:nvSpPr>
        <p:spPr>
          <a:xfrm>
            <a:off x="5554489" y="4161904"/>
            <a:ext cx="308944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SELECTEDVALUE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disconnected table</a:t>
            </a:r>
            <a:endParaRPr lang="en-US" sz="800" dirty="0"/>
          </a:p>
        </p:txBody>
      </p:sp>
      <p:sp>
        <p:nvSpPr>
          <p:cNvPr id="73" name="Text 69"/>
          <p:cNvSpPr/>
          <p:nvPr/>
        </p:nvSpPr>
        <p:spPr>
          <a:xfrm>
            <a:off x="403622" y="4518422"/>
            <a:ext cx="8336756" cy="321469"/>
          </a:xfrm>
          <a:prstGeom prst="roundRect">
            <a:avLst>
              <a:gd name="adj" fmla="val 41481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0"/>
          <p:cNvSpPr/>
          <p:nvPr/>
        </p:nvSpPr>
        <p:spPr>
          <a:xfrm>
            <a:off x="550069" y="461486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75" name="Text 71"/>
          <p:cNvSpPr/>
          <p:nvPr/>
        </p:nvSpPr>
        <p:spPr>
          <a:xfrm>
            <a:off x="750094" y="4625578"/>
            <a:ext cx="10769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84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VERIFIED VALUES</a:t>
            </a:r>
            <a:endParaRPr lang="en-US" sz="800" dirty="0"/>
          </a:p>
        </p:txBody>
      </p:sp>
      <p:sp>
        <p:nvSpPr>
          <p:cNvPr id="76" name="Text 72"/>
          <p:cNvSpPr/>
          <p:nvPr/>
        </p:nvSpPr>
        <p:spPr>
          <a:xfrm>
            <a:off x="1658913" y="4614863"/>
            <a:ext cx="7144" cy="128588"/>
          </a:xfrm>
          <a:prstGeom prst="rect">
            <a:avLst/>
          </a:prstGeom>
          <a:solidFill>
            <a:srgbClr val="E7E1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3"/>
          <p:cNvSpPr/>
          <p:nvPr/>
        </p:nvSpPr>
        <p:spPr>
          <a:xfrm>
            <a:off x="5032214" y="4593431"/>
            <a:ext cx="777543" cy="239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4"/>
              </a:lnSpc>
              <a:buNone/>
            </a:pPr>
            <a:r>
              <a:rPr lang="en-US" sz="800" spc="31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 </a:t>
            </a:r>
            <a:pPr algn="l" indent="0" marL="0">
              <a:lnSpc>
                <a:spcPts val="1044"/>
              </a:lnSpc>
              <a:buNone/>
            </a:pPr>
            <a:r>
              <a:rPr lang="en-US" sz="900" b="1" spc="31" kern="0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59.0%</a:t>
            </a:r>
            <a:endParaRPr lang="en-US" sz="800" dirty="0"/>
          </a:p>
        </p:txBody>
      </p:sp>
      <p:sp>
        <p:nvSpPr>
          <p:cNvPr id="78" name="Text 74"/>
          <p:cNvSpPr/>
          <p:nvPr/>
        </p:nvSpPr>
        <p:spPr>
          <a:xfrm>
            <a:off x="5733083" y="4593431"/>
            <a:ext cx="719838" cy="239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4"/>
              </a:lnSpc>
              <a:buNone/>
            </a:pPr>
            <a:r>
              <a:rPr lang="en-US" sz="800" spc="31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IF </a:t>
            </a:r>
            <a:pPr algn="l" indent="0" marL="0">
              <a:lnSpc>
                <a:spcPts val="1044"/>
              </a:lnSpc>
              <a:buNone/>
            </a:pPr>
            <a:r>
              <a:rPr lang="en-US" sz="900" b="1" spc="31" kern="0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52.8%</a:t>
            </a:r>
            <a:endParaRPr lang="en-US" sz="800" dirty="0"/>
          </a:p>
        </p:txBody>
      </p:sp>
      <p:sp>
        <p:nvSpPr>
          <p:cNvPr id="79" name="Text 75"/>
          <p:cNvSpPr/>
          <p:nvPr/>
        </p:nvSpPr>
        <p:spPr>
          <a:xfrm>
            <a:off x="6394661" y="4593431"/>
            <a:ext cx="782362" cy="239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4"/>
              </a:lnSpc>
              <a:buNone/>
            </a:pPr>
            <a:r>
              <a:rPr lang="en-US" sz="800" spc="31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OTIF </a:t>
            </a:r>
            <a:pPr algn="l" indent="0" marL="0">
              <a:lnSpc>
                <a:spcPts val="1044"/>
              </a:lnSpc>
              <a:buNone/>
            </a:pPr>
            <a:r>
              <a:rPr lang="en-US" sz="900" b="1" spc="31" kern="0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29.0%</a:t>
            </a:r>
            <a:endParaRPr lang="en-US" sz="800" dirty="0"/>
          </a:p>
        </p:txBody>
      </p:sp>
      <p:sp>
        <p:nvSpPr>
          <p:cNvPr id="80" name="Text 76"/>
          <p:cNvSpPr/>
          <p:nvPr/>
        </p:nvSpPr>
        <p:spPr>
          <a:xfrm>
            <a:off x="7173218" y="4593431"/>
            <a:ext cx="776752" cy="239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4"/>
              </a:lnSpc>
              <a:buNone/>
            </a:pPr>
            <a:r>
              <a:rPr lang="en-US" sz="800" spc="31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LIFR </a:t>
            </a:r>
            <a:pPr algn="l" indent="0" marL="0">
              <a:lnSpc>
                <a:spcPts val="1044"/>
              </a:lnSpc>
              <a:buNone/>
            </a:pPr>
            <a:r>
              <a:rPr lang="en-US" sz="900" b="1" spc="31" kern="0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66.0%</a:t>
            </a:r>
            <a:endParaRPr lang="en-US" sz="800" dirty="0"/>
          </a:p>
        </p:txBody>
      </p:sp>
      <p:sp>
        <p:nvSpPr>
          <p:cNvPr id="81" name="Text 77"/>
          <p:cNvSpPr/>
          <p:nvPr/>
        </p:nvSpPr>
        <p:spPr>
          <a:xfrm>
            <a:off x="7922006" y="4593431"/>
            <a:ext cx="697342" cy="239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4"/>
              </a:lnSpc>
              <a:buNone/>
            </a:pPr>
            <a:r>
              <a:rPr lang="en-US" sz="800" spc="31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VOFR </a:t>
            </a:r>
            <a:pPr algn="l" indent="0" marL="0">
              <a:lnSpc>
                <a:spcPts val="1044"/>
              </a:lnSpc>
              <a:buNone/>
            </a:pPr>
            <a:r>
              <a:rPr lang="en-US" sz="900" b="1" spc="31" kern="0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96.6%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5225" y="385763"/>
            <a:ext cx="314325" cy="28575"/>
          </a:xfrm>
          <a:prstGeom prst="roundRect">
            <a:avLst>
              <a:gd name="adj" fmla="val 66667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2413" y="385763"/>
            <a:ext cx="185738" cy="28575"/>
          </a:xfrm>
          <a:prstGeom prst="roundRect">
            <a:avLst>
              <a:gd name="adj" fmla="val 66667"/>
            </a:avLst>
          </a:prstGeom>
          <a:solidFill>
            <a:srgbClr val="E7E1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01013" y="385763"/>
            <a:ext cx="185738" cy="28575"/>
          </a:xfrm>
          <a:prstGeom prst="roundRect">
            <a:avLst>
              <a:gd name="adj" fmla="val 66667"/>
            </a:avLst>
          </a:prstGeom>
          <a:solidFill>
            <a:srgbClr val="E7E1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29613" y="385763"/>
            <a:ext cx="185738" cy="28575"/>
          </a:xfrm>
          <a:prstGeom prst="roundRect">
            <a:avLst>
              <a:gd name="adj" fmla="val 66667"/>
            </a:avLst>
          </a:prstGeom>
          <a:solidFill>
            <a:srgbClr val="E7E1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58213" y="385763"/>
            <a:ext cx="185738" cy="28575"/>
          </a:xfrm>
          <a:prstGeom prst="roundRect">
            <a:avLst>
              <a:gd name="adj" fmla="val 66667"/>
            </a:avLst>
          </a:prstGeom>
          <a:solidFill>
            <a:srgbClr val="E7E1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342900"/>
            <a:ext cx="8636000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THE DASHBOARD · PAGE 1 OF 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0050" y="525066"/>
            <a:ext cx="8636000" cy="30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20" kern="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pages, one story — starting with the one-screen answer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00050" y="893638"/>
            <a:ext cx="400050" cy="35719"/>
          </a:xfrm>
          <a:prstGeom prst="roundRect">
            <a:avLst>
              <a:gd name="adj" fmla="val 79999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3622" y="1032942"/>
            <a:ext cx="2764631" cy="689930"/>
          </a:xfrm>
          <a:prstGeom prst="roundRect">
            <a:avLst>
              <a:gd name="adj" fmla="val 19328"/>
            </a:avLst>
          </a:prstGeom>
          <a:solidFill>
            <a:srgbClr val="0D5C4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206" y="1286768"/>
            <a:ext cx="342900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807244" y="1188430"/>
            <a:ext cx="2207705" cy="118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1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Overview</a:t>
            </a:r>
            <a:endParaRPr lang="en-US" sz="816" dirty="0"/>
          </a:p>
        </p:txBody>
      </p:sp>
      <p:sp>
        <p:nvSpPr>
          <p:cNvPr id="13" name="Text 11"/>
          <p:cNvSpPr/>
          <p:nvPr/>
        </p:nvSpPr>
        <p:spPr>
          <a:xfrm>
            <a:off x="807244" y="1334095"/>
            <a:ext cx="1724769" cy="311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9"/>
              </a:lnSpc>
              <a:buNone/>
            </a:pPr>
            <a:r>
              <a:rPr lang="en-US" sz="800" dirty="0">
                <a:solidFill>
                  <a:srgbClr val="DEEBE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executive readout: five KPIs vs targets, city split, monthly OTIF trend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17738" y="1299841"/>
            <a:ext cx="446931" cy="156020"/>
          </a:xfrm>
          <a:prstGeom prst="roundRect">
            <a:avLst>
              <a:gd name="adj" fmla="val 6098882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63266" y="1308199"/>
            <a:ext cx="55587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61" kern="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VIEWING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03622" y="1801453"/>
            <a:ext cx="2764631" cy="690042"/>
          </a:xfrm>
          <a:prstGeom prst="roundRect">
            <a:avLst>
              <a:gd name="adj" fmla="val 19325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7206" y="2055391"/>
            <a:ext cx="342900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56" dirty="0"/>
          </a:p>
        </p:txBody>
      </p:sp>
      <p:sp>
        <p:nvSpPr>
          <p:cNvPr id="18" name="Text 16"/>
          <p:cNvSpPr/>
          <p:nvPr/>
        </p:nvSpPr>
        <p:spPr>
          <a:xfrm>
            <a:off x="807244" y="2015319"/>
            <a:ext cx="2257425" cy="118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16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Performance</a:t>
            </a:r>
            <a:endParaRPr lang="en-US" sz="816" dirty="0"/>
          </a:p>
        </p:txBody>
      </p:sp>
      <p:sp>
        <p:nvSpPr>
          <p:cNvPr id="19" name="Text 17"/>
          <p:cNvSpPr/>
          <p:nvPr/>
        </p:nvSpPr>
        <p:spPr>
          <a:xfrm>
            <a:off x="807244" y="2160984"/>
            <a:ext cx="2367153" cy="155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9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account matrix + watchlist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3622" y="2570076"/>
            <a:ext cx="2764631" cy="689930"/>
          </a:xfrm>
          <a:prstGeom prst="roundRect">
            <a:avLst>
              <a:gd name="adj" fmla="val 19328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7206" y="2823902"/>
            <a:ext cx="342900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56" dirty="0"/>
          </a:p>
        </p:txBody>
      </p:sp>
      <p:sp>
        <p:nvSpPr>
          <p:cNvPr id="22" name="Text 20"/>
          <p:cNvSpPr/>
          <p:nvPr/>
        </p:nvSpPr>
        <p:spPr>
          <a:xfrm>
            <a:off x="807244" y="2783830"/>
            <a:ext cx="2257425" cy="118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16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Trends</a:t>
            </a:r>
            <a:endParaRPr lang="en-US" sz="816" dirty="0"/>
          </a:p>
        </p:txBody>
      </p:sp>
      <p:sp>
        <p:nvSpPr>
          <p:cNvPr id="23" name="Text 21"/>
          <p:cNvSpPr/>
          <p:nvPr/>
        </p:nvSpPr>
        <p:spPr>
          <a:xfrm>
            <a:off x="807244" y="2929496"/>
            <a:ext cx="2367153" cy="155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9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metric switcher + month→day drill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3622" y="3338587"/>
            <a:ext cx="2764631" cy="689930"/>
          </a:xfrm>
          <a:prstGeom prst="roundRect">
            <a:avLst>
              <a:gd name="adj" fmla="val 19328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7206" y="3592413"/>
            <a:ext cx="342900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56" dirty="0"/>
          </a:p>
        </p:txBody>
      </p:sp>
      <p:sp>
        <p:nvSpPr>
          <p:cNvPr id="26" name="Text 24"/>
          <p:cNvSpPr/>
          <p:nvPr/>
        </p:nvSpPr>
        <p:spPr>
          <a:xfrm>
            <a:off x="807244" y="3552341"/>
            <a:ext cx="2257425" cy="118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16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Insights</a:t>
            </a:r>
            <a:endParaRPr lang="en-US" sz="816" dirty="0"/>
          </a:p>
        </p:txBody>
      </p:sp>
      <p:sp>
        <p:nvSpPr>
          <p:cNvPr id="27" name="Text 25"/>
          <p:cNvSpPr/>
          <p:nvPr/>
        </p:nvSpPr>
        <p:spPr>
          <a:xfrm>
            <a:off x="807244" y="3698007"/>
            <a:ext cx="2257425" cy="155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9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fill rates + sparklines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03622" y="4107098"/>
            <a:ext cx="2764631" cy="689930"/>
          </a:xfrm>
          <a:prstGeom prst="roundRect">
            <a:avLst>
              <a:gd name="adj" fmla="val 19328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07206" y="4360925"/>
            <a:ext cx="342900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956" dirty="0"/>
          </a:p>
        </p:txBody>
      </p:sp>
      <p:sp>
        <p:nvSpPr>
          <p:cNvPr id="30" name="Text 28"/>
          <p:cNvSpPr/>
          <p:nvPr/>
        </p:nvSpPr>
        <p:spPr>
          <a:xfrm>
            <a:off x="807244" y="4320853"/>
            <a:ext cx="2257425" cy="118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16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Definitions &amp; Data Model</a:t>
            </a:r>
            <a:endParaRPr lang="en-US" sz="816" dirty="0"/>
          </a:p>
        </p:txBody>
      </p:sp>
      <p:sp>
        <p:nvSpPr>
          <p:cNvPr id="31" name="Text 29"/>
          <p:cNvSpPr/>
          <p:nvPr/>
        </p:nvSpPr>
        <p:spPr>
          <a:xfrm>
            <a:off x="807244" y="4466518"/>
            <a:ext cx="2367153" cy="155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9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definitions, schema, insights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61134" y="1032942"/>
            <a:ext cx="5379244" cy="3078956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  <a:effectLst>
            <a:outerShdw sx="100000" sy="100000" kx="0" ky="0" algn="bl" rotWithShape="0" blurRad="266700" dist="95250" dir="5400000">
              <a:srgbClr val="20302C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0" descr="/tmp/h2p-fit-1790422597200-ulnv7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4706" y="1036513"/>
            <a:ext cx="5372100" cy="3071813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3371850" y="4179763"/>
            <a:ext cx="5357813" cy="151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03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KPI cards (actual vs target), the city matrix, and the monthly OTIF trend answer the one-screen question: </a:t>
            </a:r>
            <a:pPr algn="l" indent="0" marL="0">
              <a:lnSpc>
                <a:spcPts val="970"/>
              </a:lnSpc>
              <a:buNone/>
            </a:pPr>
            <a:r>
              <a:rPr lang="en-US" sz="703" i="1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are we doing?</a:t>
            </a:r>
            <a:endParaRPr lang="en-US" sz="703" dirty="0"/>
          </a:p>
        </p:txBody>
      </p:sp>
      <p:sp>
        <p:nvSpPr>
          <p:cNvPr id="35" name="Text 32"/>
          <p:cNvSpPr/>
          <p:nvPr/>
        </p:nvSpPr>
        <p:spPr>
          <a:xfrm>
            <a:off x="3361134" y="4363715"/>
            <a:ext cx="1177491" cy="366452"/>
          </a:xfrm>
          <a:prstGeom prst="roundRect">
            <a:avLst>
              <a:gd name="adj" fmla="val 25992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3450431" y="4410149"/>
            <a:ext cx="550962" cy="150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6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59.0%</a:t>
            </a:r>
            <a:endParaRPr lang="en-US" sz="956" dirty="0"/>
          </a:p>
        </p:txBody>
      </p:sp>
      <p:sp>
        <p:nvSpPr>
          <p:cNvPr id="37" name="Text 34"/>
          <p:cNvSpPr/>
          <p:nvPr/>
        </p:nvSpPr>
        <p:spPr>
          <a:xfrm>
            <a:off x="3837645" y="4438724"/>
            <a:ext cx="6116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450431" y="4564075"/>
            <a:ext cx="99889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vs 86.1% target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617207" y="4363715"/>
            <a:ext cx="1177491" cy="366452"/>
          </a:xfrm>
          <a:prstGeom prst="roundRect">
            <a:avLst>
              <a:gd name="adj" fmla="val 25992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4706503" y="4410149"/>
            <a:ext cx="550962" cy="150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6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52.8%</a:t>
            </a:r>
            <a:endParaRPr lang="en-US" sz="956" dirty="0"/>
          </a:p>
        </p:txBody>
      </p:sp>
      <p:sp>
        <p:nvSpPr>
          <p:cNvPr id="41" name="Text 38"/>
          <p:cNvSpPr/>
          <p:nvPr/>
        </p:nvSpPr>
        <p:spPr>
          <a:xfrm>
            <a:off x="5093717" y="4438724"/>
            <a:ext cx="6116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IF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706503" y="4564075"/>
            <a:ext cx="99889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vs 76.5%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873279" y="4363715"/>
            <a:ext cx="1177491" cy="366452"/>
          </a:xfrm>
          <a:prstGeom prst="roundRect">
            <a:avLst>
              <a:gd name="adj" fmla="val 25992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962576" y="4410149"/>
            <a:ext cx="550962" cy="150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6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29.0%</a:t>
            </a:r>
            <a:endParaRPr lang="en-US" sz="956" dirty="0"/>
          </a:p>
        </p:txBody>
      </p:sp>
      <p:sp>
        <p:nvSpPr>
          <p:cNvPr id="45" name="Text 42"/>
          <p:cNvSpPr/>
          <p:nvPr/>
        </p:nvSpPr>
        <p:spPr>
          <a:xfrm>
            <a:off x="6349789" y="4438724"/>
            <a:ext cx="6116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OTIF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962576" y="4564075"/>
            <a:ext cx="99889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vs 65.9%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129351" y="4363715"/>
            <a:ext cx="1611027" cy="366452"/>
          </a:xfrm>
          <a:prstGeom prst="roundRect">
            <a:avLst>
              <a:gd name="adj" fmla="val 25992"/>
            </a:avLst>
          </a:prstGeom>
          <a:solidFill>
            <a:srgbClr val="FBEED3"/>
          </a:solidFill>
          <a:ln w="7144">
            <a:solidFill>
              <a:srgbClr val="E8A13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7232935" y="448973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125" dirty="0"/>
          </a:p>
        </p:txBody>
      </p:sp>
      <p:sp>
        <p:nvSpPr>
          <p:cNvPr id="49" name="Text 46"/>
          <p:cNvSpPr/>
          <p:nvPr/>
        </p:nvSpPr>
        <p:spPr>
          <a:xfrm>
            <a:off x="7397242" y="4477234"/>
            <a:ext cx="1313925" cy="186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gaps </a:t>
            </a:r>
            <a:pPr algn="l" indent="0" marL="0">
              <a:lnSpc>
                <a:spcPts val="970"/>
              </a:lnSpc>
              <a:buNone/>
            </a:pPr>
            <a:r>
              <a:rPr lang="en-US" sz="647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−27.1 / −23.7 / −36.9 pts</a:t>
            </a:r>
            <a:endParaRPr lang="en-US" sz="64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5225" y="385763"/>
            <a:ext cx="185738" cy="28575"/>
          </a:xfrm>
          <a:prstGeom prst="roundRect">
            <a:avLst>
              <a:gd name="adj" fmla="val 66667"/>
            </a:avLst>
          </a:prstGeom>
          <a:solidFill>
            <a:srgbClr val="E7E1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743825" y="385763"/>
            <a:ext cx="314325" cy="28575"/>
          </a:xfrm>
          <a:prstGeom prst="roundRect">
            <a:avLst>
              <a:gd name="adj" fmla="val 66667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01013" y="385763"/>
            <a:ext cx="185738" cy="28575"/>
          </a:xfrm>
          <a:prstGeom prst="roundRect">
            <a:avLst>
              <a:gd name="adj" fmla="val 66667"/>
            </a:avLst>
          </a:prstGeom>
          <a:solidFill>
            <a:srgbClr val="E7E1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29613" y="385763"/>
            <a:ext cx="185738" cy="28575"/>
          </a:xfrm>
          <a:prstGeom prst="roundRect">
            <a:avLst>
              <a:gd name="adj" fmla="val 66667"/>
            </a:avLst>
          </a:prstGeom>
          <a:solidFill>
            <a:srgbClr val="E7E1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58213" y="385763"/>
            <a:ext cx="185738" cy="28575"/>
          </a:xfrm>
          <a:prstGeom prst="roundRect">
            <a:avLst>
              <a:gd name="adj" fmla="val 66667"/>
            </a:avLst>
          </a:prstGeom>
          <a:solidFill>
            <a:srgbClr val="E7E1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342900"/>
            <a:ext cx="8636000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THE DASHBOARD · PAGE 2 OF 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0050" y="525066"/>
            <a:ext cx="8636000" cy="30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20" kern="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account, every metric, color-coded by gap to target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00050" y="893638"/>
            <a:ext cx="400050" cy="35719"/>
          </a:xfrm>
          <a:prstGeom prst="roundRect">
            <a:avLst>
              <a:gd name="adj" fmla="val 79999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3622" y="1147800"/>
            <a:ext cx="5379244" cy="3078956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  <a:effectLst>
            <a:outerShdw sx="100000" sy="100000" kx="0" ky="0" algn="bl" rotWithShape="0" blurRad="266700" dist="95250" dir="5400000">
              <a:srgbClr val="20302C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0" descr="/tmp/h2p-fit-1790422597368-1t3l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194" y="1151372"/>
            <a:ext cx="5372100" cy="307181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75747" y="1032942"/>
            <a:ext cx="2764631" cy="1040978"/>
          </a:xfrm>
          <a:prstGeom prst="roundRect">
            <a:avLst>
              <a:gd name="adj" fmla="val 12810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093619" y="1273932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116657" y="1296970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336" dirty="0"/>
          </a:p>
        </p:txBody>
      </p:sp>
      <p:sp>
        <p:nvSpPr>
          <p:cNvPr id="15" name="Text 12"/>
          <p:cNvSpPr/>
          <p:nvPr/>
        </p:nvSpPr>
        <p:spPr>
          <a:xfrm>
            <a:off x="6407944" y="1312329"/>
            <a:ext cx="221456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Account-level matrix</a:t>
            </a:r>
            <a:endParaRPr lang="en-US" sz="872" dirty="0"/>
          </a:p>
        </p:txBody>
      </p:sp>
      <p:sp>
        <p:nvSpPr>
          <p:cNvPr id="16" name="Text 13"/>
          <p:cNvSpPr/>
          <p:nvPr/>
        </p:nvSpPr>
        <p:spPr>
          <a:xfrm>
            <a:off x="6093619" y="1573969"/>
            <a:ext cx="2528888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 / IF / OTIF / LIFR / VOFR for each of the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 customers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against that customer's negotiated target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975747" y="2166789"/>
            <a:ext cx="2764631" cy="1040978"/>
          </a:xfrm>
          <a:prstGeom prst="roundRect">
            <a:avLst>
              <a:gd name="adj" fmla="val 12810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093619" y="2295711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116657" y="2318750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20" name="Text 17"/>
          <p:cNvSpPr/>
          <p:nvPr/>
        </p:nvSpPr>
        <p:spPr>
          <a:xfrm>
            <a:off x="6407944" y="2334109"/>
            <a:ext cx="221456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Traffic-light cells</a:t>
            </a:r>
            <a:endParaRPr lang="en-US" sz="872" dirty="0"/>
          </a:p>
        </p:txBody>
      </p:sp>
      <p:sp>
        <p:nvSpPr>
          <p:cNvPr id="21" name="Text 18"/>
          <p:cNvSpPr/>
          <p:nvPr/>
        </p:nvSpPr>
        <p:spPr>
          <a:xfrm>
            <a:off x="6093619" y="2595749"/>
            <a:ext cx="25288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Conditional formatting driven by </a:t>
            </a:r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field-value measures</a:t>
            </a:r>
            <a:endParaRPr lang="en-US" sz="703" dirty="0"/>
          </a:p>
        </p:txBody>
      </p:sp>
      <p:sp>
        <p:nvSpPr>
          <p:cNvPr id="22" name="Text 19"/>
          <p:cNvSpPr/>
          <p:nvPr/>
        </p:nvSpPr>
        <p:spPr>
          <a:xfrm>
            <a:off x="6093619" y="2813633"/>
            <a:ext cx="78581" cy="78581"/>
          </a:xfrm>
          <a:prstGeom prst="ellipse">
            <a:avLst/>
          </a:prstGeom>
          <a:solidFill>
            <a:srgbClr val="63BE7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222206" y="2796667"/>
            <a:ext cx="4033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#63BE7B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587319" y="2796667"/>
            <a:ext cx="7350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at/above target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393781" y="2813633"/>
            <a:ext cx="78581" cy="78581"/>
          </a:xfrm>
          <a:prstGeom prst="ellipse">
            <a:avLst/>
          </a:prstGeom>
          <a:solidFill>
            <a:srgbClr val="FFEB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522369" y="2796667"/>
            <a:ext cx="4033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#FFEB84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7887481" y="2796667"/>
            <a:ext cx="7350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5E6E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within 10 pts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6093619" y="2983297"/>
            <a:ext cx="78581" cy="78581"/>
          </a:xfrm>
          <a:prstGeom prst="ellipse">
            <a:avLst/>
          </a:prstGeom>
          <a:solidFill>
            <a:srgbClr val="FDAE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222206" y="2966331"/>
            <a:ext cx="403336" cy="137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#FDAE61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6587319" y="2966331"/>
            <a:ext cx="735025" cy="137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5E6E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within 25 pts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7393781" y="2983297"/>
            <a:ext cx="78581" cy="78581"/>
          </a:xfrm>
          <a:prstGeom prst="ellipse">
            <a:avLst/>
          </a:prstGeom>
          <a:solidFill>
            <a:srgbClr val="F86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7522369" y="2966331"/>
            <a:ext cx="403336" cy="137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#F8696B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7887481" y="2966331"/>
            <a:ext cx="735025" cy="137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600" dirty="0">
                <a:solidFill>
                  <a:srgbClr val="5E6E6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beyond 25 pts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5975747" y="3300636"/>
            <a:ext cx="2764631" cy="1040978"/>
          </a:xfrm>
          <a:prstGeom prst="roundRect">
            <a:avLst>
              <a:gd name="adj" fmla="val 12810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093619" y="3541626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116657" y="3564664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336" dirty="0"/>
          </a:p>
        </p:txBody>
      </p:sp>
      <p:sp>
        <p:nvSpPr>
          <p:cNvPr id="37" name="Text 34"/>
          <p:cNvSpPr/>
          <p:nvPr/>
        </p:nvSpPr>
        <p:spPr>
          <a:xfrm>
            <a:off x="6407944" y="3580023"/>
            <a:ext cx="221456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Watchlist</a:t>
            </a:r>
            <a:endParaRPr lang="en-US" sz="872" dirty="0"/>
          </a:p>
        </p:txBody>
      </p:sp>
      <p:sp>
        <p:nvSpPr>
          <p:cNvPr id="38" name="Text 35"/>
          <p:cNvSpPr/>
          <p:nvPr/>
        </p:nvSpPr>
        <p:spPr>
          <a:xfrm>
            <a:off x="6093619" y="3841663"/>
            <a:ext cx="2528888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City OTIF benchmark plus the lowest-OTIF priority accounts —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renewal-risk shortlist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00050" y="4430911"/>
            <a:ext cx="8343900" cy="369689"/>
          </a:xfrm>
          <a:prstGeom prst="roundRect">
            <a:avLst>
              <a:gd name="adj" fmla="val 36071"/>
            </a:avLst>
          </a:prstGeom>
          <a:solidFill>
            <a:srgbClr val="0D5C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2940100" y="454431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2F7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406" dirty="0"/>
          </a:p>
        </p:txBody>
      </p:sp>
      <p:sp>
        <p:nvSpPr>
          <p:cNvPr id="41" name="Text 38"/>
          <p:cNvSpPr/>
          <p:nvPr/>
        </p:nvSpPr>
        <p:spPr>
          <a:xfrm>
            <a:off x="3855839" y="4545211"/>
            <a:ext cx="478854" cy="142875"/>
          </a:xfrm>
          <a:prstGeom prst="roundRect">
            <a:avLst>
              <a:gd name="adj" fmla="val 46667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154412" y="4530923"/>
            <a:ext cx="5446663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spc="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verdict: </a:t>
            </a:r>
            <a:pPr algn="l" indent="0" marL="0">
              <a:lnSpc>
                <a:spcPts val="1308"/>
              </a:lnSpc>
              <a:buNone/>
            </a:pPr>
            <a:r>
              <a:rPr lang="en-US" sz="816" b="1" spc="9" kern="0" dirty="0">
                <a:solidFill>
                  <a:srgbClr val="20302C"/>
                </a:solidFill>
                <a:highlight>
                  <a:srgbClr val="E8A13A"/>
                </a:highlight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 of 35</a:t>
            </a:r>
            <a:pPr algn="l" indent="0" marL="0">
              <a:lnSpc>
                <a:spcPts val="1308"/>
              </a:lnSpc>
              <a:buNone/>
            </a:pPr>
            <a:r>
              <a:rPr lang="en-US" sz="872" b="1" spc="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customers meet their OTIF target.</a:t>
            </a:r>
            <a:endParaRPr lang="en-US" sz="87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5225" y="385763"/>
            <a:ext cx="185738" cy="28575"/>
          </a:xfrm>
          <a:prstGeom prst="roundRect">
            <a:avLst>
              <a:gd name="adj" fmla="val 66667"/>
            </a:avLst>
          </a:prstGeom>
          <a:solidFill>
            <a:srgbClr val="E7E1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743825" y="385763"/>
            <a:ext cx="185738" cy="28575"/>
          </a:xfrm>
          <a:prstGeom prst="roundRect">
            <a:avLst>
              <a:gd name="adj" fmla="val 66667"/>
            </a:avLst>
          </a:prstGeom>
          <a:solidFill>
            <a:srgbClr val="E7E1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72425" y="385763"/>
            <a:ext cx="314325" cy="28575"/>
          </a:xfrm>
          <a:prstGeom prst="roundRect">
            <a:avLst>
              <a:gd name="adj" fmla="val 66667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29613" y="385763"/>
            <a:ext cx="185738" cy="28575"/>
          </a:xfrm>
          <a:prstGeom prst="roundRect">
            <a:avLst>
              <a:gd name="adj" fmla="val 66667"/>
            </a:avLst>
          </a:prstGeom>
          <a:solidFill>
            <a:srgbClr val="E7E1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58213" y="385763"/>
            <a:ext cx="185738" cy="28575"/>
          </a:xfrm>
          <a:prstGeom prst="roundRect">
            <a:avLst>
              <a:gd name="adj" fmla="val 66667"/>
            </a:avLst>
          </a:prstGeom>
          <a:solidFill>
            <a:srgbClr val="E7E1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342900"/>
            <a:ext cx="8636000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THE DASHBOARD · PAGE 3 OF 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0050" y="525066"/>
            <a:ext cx="8636000" cy="30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20" kern="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signal, five metrics, drilled from months to days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00050" y="893638"/>
            <a:ext cx="400050" cy="35719"/>
          </a:xfrm>
          <a:prstGeom prst="roundRect">
            <a:avLst>
              <a:gd name="adj" fmla="val 79999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3622" y="1032942"/>
            <a:ext cx="2764631" cy="880132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1494" y="1193453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4532" y="1216491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336" dirty="0"/>
          </a:p>
        </p:txBody>
      </p:sp>
      <p:sp>
        <p:nvSpPr>
          <p:cNvPr id="13" name="Text 11"/>
          <p:cNvSpPr/>
          <p:nvPr/>
        </p:nvSpPr>
        <p:spPr>
          <a:xfrm>
            <a:off x="835819" y="1231850"/>
            <a:ext cx="221456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Metric switcher</a:t>
            </a:r>
            <a:endParaRPr lang="en-US" sz="872" dirty="0"/>
          </a:p>
        </p:txBody>
      </p:sp>
      <p:sp>
        <p:nvSpPr>
          <p:cNvPr id="14" name="Text 12"/>
          <p:cNvSpPr/>
          <p:nvPr/>
        </p:nvSpPr>
        <p:spPr>
          <a:xfrm>
            <a:off x="521494" y="1493490"/>
            <a:ext cx="2528888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disconnected Metrics table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SELECTEDVALUE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router drives OT / IF / OTIF / LIFR / VOFR on the same trend chart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3622" y="2005943"/>
            <a:ext cx="2764631" cy="1818084"/>
          </a:xfrm>
          <a:prstGeom prst="roundRect">
            <a:avLst>
              <a:gd name="adj" fmla="val 7335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21494" y="2166565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4532" y="2189604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336" dirty="0"/>
          </a:p>
        </p:txBody>
      </p:sp>
      <p:sp>
        <p:nvSpPr>
          <p:cNvPr id="18" name="Text 16"/>
          <p:cNvSpPr/>
          <p:nvPr/>
        </p:nvSpPr>
        <p:spPr>
          <a:xfrm>
            <a:off x="835819" y="2204963"/>
            <a:ext cx="221456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Drill path</a:t>
            </a:r>
            <a:endParaRPr lang="en-US" sz="872" dirty="0"/>
          </a:p>
        </p:txBody>
      </p:sp>
      <p:sp>
        <p:nvSpPr>
          <p:cNvPr id="19" name="Text 17"/>
          <p:cNvSpPr/>
          <p:nvPr/>
        </p:nvSpPr>
        <p:spPr>
          <a:xfrm>
            <a:off x="498634" y="2454280"/>
            <a:ext cx="727502" cy="230029"/>
          </a:xfrm>
          <a:prstGeom prst="roundRect">
            <a:avLst>
              <a:gd name="adj" fmla="val 4136641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7219" y="2515716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055" dirty="0"/>
          </a:p>
        </p:txBody>
      </p:sp>
      <p:sp>
        <p:nvSpPr>
          <p:cNvPr id="21" name="Text 19"/>
          <p:cNvSpPr/>
          <p:nvPr/>
        </p:nvSpPr>
        <p:spPr>
          <a:xfrm>
            <a:off x="744977" y="2502322"/>
            <a:ext cx="370546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Months</a:t>
            </a:r>
            <a:endParaRPr lang="en-US" sz="703" dirty="0"/>
          </a:p>
        </p:txBody>
      </p:sp>
      <p:sp>
        <p:nvSpPr>
          <p:cNvPr id="22" name="Text 20"/>
          <p:cNvSpPr/>
          <p:nvPr/>
        </p:nvSpPr>
        <p:spPr>
          <a:xfrm>
            <a:off x="664369" y="268627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5E6E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98634" y="2802538"/>
            <a:ext cx="691448" cy="230029"/>
          </a:xfrm>
          <a:prstGeom prst="roundRect">
            <a:avLst>
              <a:gd name="adj" fmla="val 4136641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7219" y="2863974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055" dirty="0"/>
          </a:p>
        </p:txBody>
      </p:sp>
      <p:sp>
        <p:nvSpPr>
          <p:cNvPr id="25" name="Text 23"/>
          <p:cNvSpPr/>
          <p:nvPr/>
        </p:nvSpPr>
        <p:spPr>
          <a:xfrm>
            <a:off x="754347" y="2850579"/>
            <a:ext cx="315754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Weeks</a:t>
            </a:r>
            <a:endParaRPr lang="en-US" sz="703" dirty="0"/>
          </a:p>
        </p:txBody>
      </p:sp>
      <p:sp>
        <p:nvSpPr>
          <p:cNvPr id="26" name="Text 24"/>
          <p:cNvSpPr/>
          <p:nvPr/>
        </p:nvSpPr>
        <p:spPr>
          <a:xfrm>
            <a:off x="664369" y="303453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5E6E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498634" y="3150796"/>
            <a:ext cx="623582" cy="230029"/>
          </a:xfrm>
          <a:prstGeom prst="roundRect">
            <a:avLst>
              <a:gd name="adj" fmla="val 4136641"/>
            </a:avLst>
          </a:prstGeom>
          <a:solidFill>
            <a:srgbClr val="0D5C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07219" y="3212232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F2F7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055" dirty="0"/>
          </a:p>
        </p:txBody>
      </p:sp>
      <p:sp>
        <p:nvSpPr>
          <p:cNvPr id="29" name="Text 27"/>
          <p:cNvSpPr/>
          <p:nvPr/>
        </p:nvSpPr>
        <p:spPr>
          <a:xfrm>
            <a:off x="747810" y="3198837"/>
            <a:ext cx="260961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Days</a:t>
            </a:r>
            <a:endParaRPr lang="en-US" sz="703" dirty="0"/>
          </a:p>
        </p:txBody>
      </p:sp>
      <p:sp>
        <p:nvSpPr>
          <p:cNvPr id="30" name="Text 28"/>
          <p:cNvSpPr/>
          <p:nvPr/>
        </p:nvSpPr>
        <p:spPr>
          <a:xfrm>
            <a:off x="521494" y="3418508"/>
            <a:ext cx="2528888" cy="309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6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exposing how unstable daily performance really is — daily OTIF swings </a:t>
            </a:r>
            <a:pPr algn="l" indent="0" marL="0">
              <a:lnSpc>
                <a:spcPts val="906"/>
              </a:lnSpc>
              <a:buNone/>
            </a:pPr>
            <a:r>
              <a:rPr lang="en-US" sz="800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22–37%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03622" y="3916896"/>
            <a:ext cx="2764631" cy="880132"/>
          </a:xfrm>
          <a:prstGeom prst="roundRect">
            <a:avLst>
              <a:gd name="adj" fmla="val 15151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1494" y="4077407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4532" y="4100446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34" name="Text 32"/>
          <p:cNvSpPr/>
          <p:nvPr/>
        </p:nvSpPr>
        <p:spPr>
          <a:xfrm>
            <a:off x="835819" y="4115805"/>
            <a:ext cx="221456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Dynamic chart title</a:t>
            </a:r>
            <a:endParaRPr lang="en-US" sz="872" dirty="0"/>
          </a:p>
        </p:txBody>
      </p:sp>
      <p:sp>
        <p:nvSpPr>
          <p:cNvPr id="35" name="Text 33"/>
          <p:cNvSpPr/>
          <p:nvPr/>
        </p:nvSpPr>
        <p:spPr>
          <a:xfrm>
            <a:off x="521494" y="4377444"/>
            <a:ext cx="2528888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DAX title measure shows the selected metric and current drill level, using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ISFILTERED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61134" y="1375507"/>
            <a:ext cx="5379244" cy="3078956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  <a:effectLst>
            <a:outerShdw sx="100000" sy="100000" kx="0" ky="0" algn="bl" rotWithShape="0" blurRad="266700" dist="95250" dir="5400000">
              <a:srgbClr val="20302C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0" descr="/tmp/h2p-fit-1790422602859-ge7if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4706" y="1379079"/>
            <a:ext cx="5372100" cy="30718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5225" y="385763"/>
            <a:ext cx="185738" cy="28575"/>
          </a:xfrm>
          <a:prstGeom prst="roundRect">
            <a:avLst>
              <a:gd name="adj" fmla="val 66667"/>
            </a:avLst>
          </a:prstGeom>
          <a:solidFill>
            <a:srgbClr val="E7E1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743825" y="385763"/>
            <a:ext cx="185738" cy="28575"/>
          </a:xfrm>
          <a:prstGeom prst="roundRect">
            <a:avLst>
              <a:gd name="adj" fmla="val 66667"/>
            </a:avLst>
          </a:prstGeom>
          <a:solidFill>
            <a:srgbClr val="E7E1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72425" y="385763"/>
            <a:ext cx="185738" cy="28575"/>
          </a:xfrm>
          <a:prstGeom prst="roundRect">
            <a:avLst>
              <a:gd name="adj" fmla="val 66667"/>
            </a:avLst>
          </a:prstGeom>
          <a:solidFill>
            <a:srgbClr val="E7E1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01025" y="385763"/>
            <a:ext cx="314325" cy="28575"/>
          </a:xfrm>
          <a:prstGeom prst="roundRect">
            <a:avLst>
              <a:gd name="adj" fmla="val 66667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58213" y="385763"/>
            <a:ext cx="185738" cy="28575"/>
          </a:xfrm>
          <a:prstGeom prst="roundRect">
            <a:avLst>
              <a:gd name="adj" fmla="val 66667"/>
            </a:avLst>
          </a:prstGeom>
          <a:solidFill>
            <a:srgbClr val="E7E1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342900"/>
            <a:ext cx="8636000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THE DASHBOARD · PAGE 4 OF 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00050" y="525066"/>
            <a:ext cx="8636000" cy="30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20" kern="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Fill rates by product, with time embedded in every row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00050" y="893638"/>
            <a:ext cx="400050" cy="35719"/>
          </a:xfrm>
          <a:prstGeom prst="roundRect">
            <a:avLst>
              <a:gd name="adj" fmla="val 79999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3622" y="1189769"/>
            <a:ext cx="5379244" cy="3078956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  <a:effectLst>
            <a:outerShdw sx="100000" sy="100000" kx="0" ky="0" algn="bl" rotWithShape="0" blurRad="266700" dist="95250" dir="5400000">
              <a:srgbClr val="20302C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0" descr="/tmp/h2p-fit-1790422603242-fd1e7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194" y="1193341"/>
            <a:ext cx="5372100" cy="307181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75747" y="1032942"/>
            <a:ext cx="2764631" cy="1068884"/>
          </a:xfrm>
          <a:prstGeom prst="roundRect">
            <a:avLst>
              <a:gd name="adj" fmla="val 12476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093619" y="1287884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116657" y="1310923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336" dirty="0"/>
          </a:p>
        </p:txBody>
      </p:sp>
      <p:sp>
        <p:nvSpPr>
          <p:cNvPr id="15" name="Text 12"/>
          <p:cNvSpPr/>
          <p:nvPr/>
        </p:nvSpPr>
        <p:spPr>
          <a:xfrm>
            <a:off x="6407944" y="1326282"/>
            <a:ext cx="221456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LIFR &amp; VOFR by product</a:t>
            </a:r>
            <a:endParaRPr lang="en-US" sz="872" dirty="0"/>
          </a:p>
        </p:txBody>
      </p:sp>
      <p:sp>
        <p:nvSpPr>
          <p:cNvPr id="16" name="Text 13"/>
          <p:cNvSpPr/>
          <p:nvPr/>
        </p:nvSpPr>
        <p:spPr>
          <a:xfrm>
            <a:off x="6093619" y="1587922"/>
            <a:ext cx="2528888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</a:t>
            </a:r>
            <a:pPr algn="l" indent="0" marL="0">
              <a:lnSpc>
                <a:spcPts val="1020"/>
              </a:lnSpc>
              <a:buNone/>
            </a:pPr>
            <a:r>
              <a:rPr lang="en-US" sz="800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products with both fill-rate metrics side by side —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which SKUs starve the orders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975747" y="2194694"/>
            <a:ext cx="2764631" cy="1068995"/>
          </a:xfrm>
          <a:prstGeom prst="roundRect">
            <a:avLst>
              <a:gd name="adj" fmla="val 12474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093619" y="2449637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116657" y="2472675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336" dirty="0"/>
          </a:p>
        </p:txBody>
      </p:sp>
      <p:sp>
        <p:nvSpPr>
          <p:cNvPr id="20" name="Text 17"/>
          <p:cNvSpPr/>
          <p:nvPr/>
        </p:nvSpPr>
        <p:spPr>
          <a:xfrm>
            <a:off x="6407944" y="2488034"/>
            <a:ext cx="221456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Sparklines in-table</a:t>
            </a:r>
            <a:endParaRPr lang="en-US" sz="872" dirty="0"/>
          </a:p>
        </p:txBody>
      </p:sp>
      <p:sp>
        <p:nvSpPr>
          <p:cNvPr id="21" name="Text 18"/>
          <p:cNvSpPr/>
          <p:nvPr/>
        </p:nvSpPr>
        <p:spPr>
          <a:xfrm>
            <a:off x="6093619" y="2749674"/>
            <a:ext cx="2528888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row carries its own time sparkline, so </a:t>
            </a:r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trend quality is visible without leaving the table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975747" y="3356558"/>
            <a:ext cx="2764631" cy="1068995"/>
          </a:xfrm>
          <a:prstGeom prst="roundRect">
            <a:avLst>
              <a:gd name="adj" fmla="val 12474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093619" y="3551225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116657" y="3574264"/>
            <a:ext cx="196810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336" dirty="0"/>
          </a:p>
        </p:txBody>
      </p:sp>
      <p:sp>
        <p:nvSpPr>
          <p:cNvPr id="25" name="Text 22"/>
          <p:cNvSpPr/>
          <p:nvPr/>
        </p:nvSpPr>
        <p:spPr>
          <a:xfrm>
            <a:off x="6407944" y="3589623"/>
            <a:ext cx="221456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Category slicer</a:t>
            </a:r>
            <a:endParaRPr lang="en-US" sz="872" dirty="0"/>
          </a:p>
        </p:txBody>
      </p:sp>
      <p:sp>
        <p:nvSpPr>
          <p:cNvPr id="26" name="Text 23"/>
          <p:cNvSpPr/>
          <p:nvPr/>
        </p:nvSpPr>
        <p:spPr>
          <a:xfrm>
            <a:off x="6093619" y="3847262"/>
            <a:ext cx="414561" cy="208026"/>
          </a:xfrm>
          <a:prstGeom prst="roundRect">
            <a:avLst>
              <a:gd name="adj" fmla="val 4574176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093619" y="3858406"/>
            <a:ext cx="41456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Dairy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565329" y="3847262"/>
            <a:ext cx="409538" cy="208026"/>
          </a:xfrm>
          <a:prstGeom prst="roundRect">
            <a:avLst>
              <a:gd name="adj" fmla="val 4574176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565329" y="3858406"/>
            <a:ext cx="4095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Food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032017" y="3847262"/>
            <a:ext cx="633785" cy="208026"/>
          </a:xfrm>
          <a:prstGeom prst="roundRect">
            <a:avLst>
              <a:gd name="adj" fmla="val 4574176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032017" y="3858406"/>
            <a:ext cx="63378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Beverages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093619" y="4101294"/>
            <a:ext cx="25288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3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Filter the table to one category for focused reviews</a:t>
            </a:r>
            <a:endParaRPr lang="en-US" sz="703" dirty="0"/>
          </a:p>
        </p:txBody>
      </p:sp>
      <p:sp>
        <p:nvSpPr>
          <p:cNvPr id="33" name="Text 30"/>
          <p:cNvSpPr/>
          <p:nvPr/>
        </p:nvSpPr>
        <p:spPr>
          <a:xfrm>
            <a:off x="403622" y="4504134"/>
            <a:ext cx="8336756" cy="292894"/>
          </a:xfrm>
          <a:prstGeom prst="roundRect">
            <a:avLst>
              <a:gd name="adj" fmla="val 45528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35781" y="458628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5E6E6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5" name="Text 32"/>
          <p:cNvSpPr/>
          <p:nvPr/>
        </p:nvSpPr>
        <p:spPr>
          <a:xfrm>
            <a:off x="735806" y="4590529"/>
            <a:ext cx="7872413" cy="124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 5 — Definitions &amp; Data Model</a:t>
            </a:r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documents metric definitions, the star-schema layout, and the key insights, keeping the report self-explanatory for any stakeholder who opens it cold.</a:t>
            </a:r>
            <a:endParaRPr lang="en-US" sz="6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52176" y="-557212"/>
            <a:ext cx="6591824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75"/>
              </a:lnSpc>
              <a:buNone/>
            </a:pPr>
            <a:r>
              <a:rPr lang="en-US" sz="16875" b="1" spc="-675" kern="0" dirty="0">
                <a:solidFill>
                  <a:srgbClr val="0D5C4F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0/35</a:t>
            </a:r>
            <a:endParaRPr lang="en-US" sz="16875" dirty="0"/>
          </a:p>
        </p:txBody>
      </p:sp>
      <p:sp>
        <p:nvSpPr>
          <p:cNvPr id="3" name="Text 1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FINDINGS · 1 OF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0784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4" kern="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Under half the promised reliability — </a:t>
            </a:r>
            <a:pPr algn="l" indent="0" marL="0">
              <a:lnSpc>
                <a:spcPts val="2329"/>
              </a:lnSpc>
              <a:buNone/>
            </a:pPr>
            <a:r>
              <a:rPr lang="en-US" sz="2025" b="1" spc="-24" kern="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everywhere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457200" y="956481"/>
            <a:ext cx="400050" cy="35719"/>
          </a:xfrm>
          <a:prstGeom prst="roundRect">
            <a:avLst>
              <a:gd name="adj" fmla="val 79999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135535"/>
            <a:ext cx="3665458" cy="972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88"/>
              </a:lnSpc>
              <a:buNone/>
            </a:pPr>
            <a:r>
              <a:rPr lang="en-US" sz="7875" b="1" spc="-276" kern="0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29.0</a:t>
            </a:r>
            <a:pPr algn="l" indent="0" marL="0">
              <a:lnSpc>
                <a:spcPts val="7088"/>
              </a:lnSpc>
              <a:buNone/>
            </a:pPr>
            <a:r>
              <a:rPr lang="en-US" sz="4388" b="1" spc="-88" kern="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%</a:t>
            </a:r>
            <a:endParaRPr lang="en-US" sz="7875" dirty="0"/>
          </a:p>
        </p:txBody>
      </p:sp>
      <p:sp>
        <p:nvSpPr>
          <p:cNvPr id="7" name="Text 5"/>
          <p:cNvSpPr/>
          <p:nvPr/>
        </p:nvSpPr>
        <p:spPr>
          <a:xfrm>
            <a:off x="457200" y="3149947"/>
            <a:ext cx="31875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76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ACTUAL OTIF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890986" y="2135535"/>
            <a:ext cx="7144" cy="1096566"/>
          </a:xfrm>
          <a:prstGeom prst="rect">
            <a:avLst/>
          </a:prstGeom>
          <a:solidFill>
            <a:srgbClr val="E7E1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41005" y="2428429"/>
            <a:ext cx="1951315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588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65.9</a:t>
            </a:r>
            <a:pPr algn="l" indent="0" marL="0">
              <a:lnSpc>
                <a:spcPts val="2588"/>
              </a:lnSpc>
              <a:buNone/>
            </a:pPr>
            <a:r>
              <a:rPr lang="en-US" sz="1519" b="1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%</a:t>
            </a:r>
            <a:endParaRPr lang="en-US" sz="2588" dirty="0"/>
          </a:p>
        </p:txBody>
      </p:sp>
      <p:sp>
        <p:nvSpPr>
          <p:cNvPr id="10" name="Text 8"/>
          <p:cNvSpPr/>
          <p:nvPr/>
        </p:nvSpPr>
        <p:spPr>
          <a:xfrm>
            <a:off x="3041005" y="2814191"/>
            <a:ext cx="17497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18145" y="3019274"/>
            <a:ext cx="1265292" cy="239916"/>
          </a:xfrm>
          <a:prstGeom prst="roundRect">
            <a:avLst>
              <a:gd name="adj" fmla="val 3966169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26730" y="3085654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20302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055" dirty="0"/>
          </a:p>
        </p:txBody>
      </p:sp>
      <p:sp>
        <p:nvSpPr>
          <p:cNvPr id="13" name="Text 11"/>
          <p:cNvSpPr/>
          <p:nvPr/>
        </p:nvSpPr>
        <p:spPr>
          <a:xfrm>
            <a:off x="3276749" y="3074938"/>
            <a:ext cx="8981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−36.9 pts below target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57200" y="4332684"/>
            <a:ext cx="4690765" cy="482203"/>
          </a:xfrm>
          <a:prstGeom prst="roundRect">
            <a:avLst>
              <a:gd name="adj" fmla="val 23704"/>
            </a:avLst>
          </a:prstGeom>
          <a:solidFill>
            <a:srgbClr val="F86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0075" y="448806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0302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688" dirty="0"/>
          </a:p>
        </p:txBody>
      </p:sp>
      <p:sp>
        <p:nvSpPr>
          <p:cNvPr id="16" name="Text 14"/>
          <p:cNvSpPr/>
          <p:nvPr/>
        </p:nvSpPr>
        <p:spPr>
          <a:xfrm>
            <a:off x="864394" y="4439841"/>
            <a:ext cx="4140696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9"/>
              </a:lnSpc>
              <a:buNone/>
            </a:pPr>
            <a:r>
              <a:rPr lang="en-US" sz="1406" b="1" spc="-11" kern="0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pPr algn="l" indent="0" marL="0">
              <a:lnSpc>
                <a:spcPts val="2109"/>
              </a:lnSpc>
              <a:buNone/>
            </a:pPr>
            <a:r>
              <a:rPr lang="en-US" sz="1069" b="1" spc="-11" kern="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</a:t>
            </a:r>
            <a:pPr algn="l" indent="0" marL="0">
              <a:lnSpc>
                <a:spcPts val="2109"/>
              </a:lnSpc>
              <a:buNone/>
            </a:pPr>
            <a:r>
              <a:rPr lang="en-US" sz="1406" b="1" spc="-11" kern="0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</a:t>
            </a:r>
            <a:pPr algn="l" indent="0" marL="0">
              <a:lnSpc>
                <a:spcPts val="2109"/>
              </a:lnSpc>
              <a:buNone/>
            </a:pPr>
            <a:r>
              <a:rPr lang="en-US" sz="1069" b="1" spc="-11" kern="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customers meet their OTIF target</a:t>
            </a:r>
            <a:endParaRPr lang="en-US" sz="1069" dirty="0"/>
          </a:p>
        </p:txBody>
      </p:sp>
      <p:sp>
        <p:nvSpPr>
          <p:cNvPr id="17" name="Text 15"/>
          <p:cNvSpPr/>
          <p:nvPr/>
        </p:nvSpPr>
        <p:spPr>
          <a:xfrm>
            <a:off x="5408712" y="1181509"/>
            <a:ext cx="3274516" cy="1105495"/>
          </a:xfrm>
          <a:prstGeom prst="roundRect">
            <a:avLst>
              <a:gd name="adj" fmla="val 12062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69446" y="1313669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96414" y="1340636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477" dirty="0"/>
          </a:p>
        </p:txBody>
      </p:sp>
      <p:sp>
        <p:nvSpPr>
          <p:cNvPr id="20" name="Text 18"/>
          <p:cNvSpPr/>
          <p:nvPr/>
        </p:nvSpPr>
        <p:spPr>
          <a:xfrm>
            <a:off x="5926634" y="1352959"/>
            <a:ext cx="259586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Both pillars are short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5569446" y="1656569"/>
            <a:ext cx="2953048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 </a:t>
            </a:r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59.0%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vs </a:t>
            </a:r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86.1%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target (</a:t>
            </a:r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−27.1 pts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· IF </a:t>
            </a:r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52.8%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vs </a:t>
            </a:r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76.5%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target (</a:t>
            </a:r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−23.7 pts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— on-time and in-full fail together, so OTIF compounds the damage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5408712" y="2609813"/>
            <a:ext cx="3274516" cy="939403"/>
          </a:xfrm>
          <a:prstGeom prst="roundRect">
            <a:avLst>
              <a:gd name="adj" fmla="val 14195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569446" y="2741972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96414" y="2768940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477" dirty="0"/>
          </a:p>
        </p:txBody>
      </p:sp>
      <p:sp>
        <p:nvSpPr>
          <p:cNvPr id="25" name="Text 23"/>
          <p:cNvSpPr/>
          <p:nvPr/>
        </p:nvSpPr>
        <p:spPr>
          <a:xfrm>
            <a:off x="5926634" y="2781263"/>
            <a:ext cx="259586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Systemic, not regional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5569446" y="3084872"/>
            <a:ext cx="2953048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City OTIF sits in a narrow </a:t>
            </a:r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27.8–30.1%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band — every city fails the same way, so no local hero story explains it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5408712" y="3871913"/>
            <a:ext cx="3274516" cy="939403"/>
          </a:xfrm>
          <a:prstGeom prst="roundRect">
            <a:avLst>
              <a:gd name="adj" fmla="val 14195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69446" y="4004072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596414" y="4031040"/>
            <a:ext cx="217527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477" dirty="0"/>
          </a:p>
        </p:txBody>
      </p:sp>
      <p:sp>
        <p:nvSpPr>
          <p:cNvPr id="30" name="Text 28"/>
          <p:cNvSpPr/>
          <p:nvPr/>
        </p:nvSpPr>
        <p:spPr>
          <a:xfrm>
            <a:off x="5926634" y="4043363"/>
            <a:ext cx="259586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Flat but erratic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5569446" y="4346972"/>
            <a:ext cx="2953048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Monthly OTIF barely moves (</a:t>
            </a:r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28.7–29.4%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while daily swings reach </a:t>
            </a:r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22–37%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the average hides the volatility</a:t>
            </a:r>
            <a:endParaRPr lang="en-US" sz="84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FINDINGS · 2 OF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0784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4" kern="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independent failure modes — </a:t>
            </a:r>
            <a:pPr algn="l" indent="0" marL="0">
              <a:lnSpc>
                <a:spcPts val="2329"/>
              </a:lnSpc>
              <a:buNone/>
            </a:pPr>
            <a:r>
              <a:rPr lang="en-US" sz="2025" b="1" spc="-24" kern="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one problem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57200" y="956481"/>
            <a:ext cx="400050" cy="35719"/>
          </a:xfrm>
          <a:prstGeom prst="roundRect">
            <a:avLst>
              <a:gd name="adj" fmla="val 79999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0772" y="1152934"/>
            <a:ext cx="4021931" cy="2629681"/>
          </a:xfrm>
          <a:prstGeom prst="roundRect">
            <a:avLst>
              <a:gd name="adj" fmla="val 5071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4344" y="1156506"/>
            <a:ext cx="4014788" cy="546497"/>
          </a:xfrm>
          <a:prstGeom prst="rect">
            <a:avLst/>
          </a:prstGeom>
          <a:solidFill>
            <a:srgbClr val="0D5C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506" y="1254733"/>
            <a:ext cx="3543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49" kern="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 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79094" y="124223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621506" y="1406537"/>
            <a:ext cx="3810191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spc="-11" kern="0" dirty="0">
                <a:solidFill>
                  <a:srgbClr val="F2F7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the big-3 chains collapse on on-time</a:t>
            </a:r>
            <a:endParaRPr lang="en-US" sz="1069" dirty="0"/>
          </a:p>
        </p:txBody>
      </p:sp>
      <p:sp>
        <p:nvSpPr>
          <p:cNvPr id="10" name="Text 8"/>
          <p:cNvSpPr/>
          <p:nvPr/>
        </p:nvSpPr>
        <p:spPr>
          <a:xfrm>
            <a:off x="621506" y="1860166"/>
            <a:ext cx="3240472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Coolblue</a:t>
            </a:r>
            <a:endParaRPr lang="en-US" sz="844" dirty="0"/>
          </a:p>
        </p:txBody>
      </p:sp>
      <p:sp>
        <p:nvSpPr>
          <p:cNvPr id="11" name="Text 9"/>
          <p:cNvSpPr/>
          <p:nvPr/>
        </p:nvSpPr>
        <p:spPr>
          <a:xfrm>
            <a:off x="3876266" y="1803016"/>
            <a:ext cx="602866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13.7%</a:t>
            </a:r>
            <a:endParaRPr lang="en-US" sz="1238" dirty="0"/>
          </a:p>
        </p:txBody>
      </p:sp>
      <p:sp>
        <p:nvSpPr>
          <p:cNvPr id="12" name="Text 10"/>
          <p:cNvSpPr/>
          <p:nvPr/>
        </p:nvSpPr>
        <p:spPr>
          <a:xfrm>
            <a:off x="621506" y="2081622"/>
            <a:ext cx="3700463" cy="42863"/>
          </a:xfrm>
          <a:prstGeom prst="roundRect">
            <a:avLst>
              <a:gd name="adj" fmla="val 66666"/>
            </a:avLst>
          </a:prstGeom>
          <a:solidFill>
            <a:srgbClr val="E7E1D3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1506" y="2081622"/>
            <a:ext cx="506871" cy="42863"/>
          </a:xfrm>
          <a:prstGeom prst="roundRect">
            <a:avLst>
              <a:gd name="adj" fmla="val 66666"/>
            </a:avLst>
          </a:prstGeom>
          <a:solidFill>
            <a:srgbClr val="F86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506" y="2253072"/>
            <a:ext cx="3240472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Acclaimed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3876266" y="2195922"/>
            <a:ext cx="602866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15.5%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621506" y="2474528"/>
            <a:ext cx="3700463" cy="42863"/>
          </a:xfrm>
          <a:prstGeom prst="roundRect">
            <a:avLst>
              <a:gd name="adj" fmla="val 66666"/>
            </a:avLst>
          </a:prstGeom>
          <a:solidFill>
            <a:srgbClr val="E7E1D3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1506" y="2474528"/>
            <a:ext cx="573509" cy="42863"/>
          </a:xfrm>
          <a:prstGeom prst="roundRect">
            <a:avLst>
              <a:gd name="adj" fmla="val 66666"/>
            </a:avLst>
          </a:prstGeom>
          <a:solidFill>
            <a:srgbClr val="F86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1506" y="2645978"/>
            <a:ext cx="3240472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Lotus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3876266" y="2588828"/>
            <a:ext cx="602866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16.3%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621506" y="2867434"/>
            <a:ext cx="3700463" cy="42863"/>
          </a:xfrm>
          <a:prstGeom prst="roundRect">
            <a:avLst>
              <a:gd name="adj" fmla="val 66666"/>
            </a:avLst>
          </a:prstGeom>
          <a:solidFill>
            <a:srgbClr val="E7E1D3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1506" y="2867434"/>
            <a:ext cx="603089" cy="42863"/>
          </a:xfrm>
          <a:prstGeom prst="roundRect">
            <a:avLst>
              <a:gd name="adj" fmla="val 66666"/>
            </a:avLst>
          </a:prstGeom>
          <a:solidFill>
            <a:srgbClr val="F86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1506" y="3021806"/>
            <a:ext cx="3700463" cy="264319"/>
          </a:xfrm>
          <a:prstGeom prst="roundRect">
            <a:avLst>
              <a:gd name="adj" fmla="val 32432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1506" y="3021806"/>
            <a:ext cx="3700463" cy="289995"/>
          </a:xfrm>
          <a:prstGeom prst="rect">
            <a:avLst/>
          </a:prstGeom>
          <a:noFill/>
          <a:ln/>
        </p:spPr>
        <p:txBody>
          <a:bodyPr wrap="square" lIns="100013" tIns="57150" rIns="100013" bIns="5715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~30%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all orders · on-time only 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~29%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1506" y="3357563"/>
            <a:ext cx="3700463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largest accounts are late on most orders — everything downstream of dispatch fails for them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4661297" y="1152934"/>
            <a:ext cx="4021931" cy="2629681"/>
          </a:xfrm>
          <a:prstGeom prst="roundRect">
            <a:avLst>
              <a:gd name="adj" fmla="val 5071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64869" y="1156506"/>
            <a:ext cx="4014788" cy="546497"/>
          </a:xfrm>
          <a:prstGeom prst="rect">
            <a:avLst/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22031" y="1254733"/>
            <a:ext cx="35433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49" kern="0" dirty="0">
                <a:solidFill>
                  <a:srgbClr val="20302C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 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379619" y="124223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0302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406" dirty="0"/>
          </a:p>
        </p:txBody>
      </p:sp>
      <p:sp>
        <p:nvSpPr>
          <p:cNvPr id="29" name="Text 27"/>
          <p:cNvSpPr/>
          <p:nvPr/>
        </p:nvSpPr>
        <p:spPr>
          <a:xfrm>
            <a:off x="4822031" y="1406537"/>
            <a:ext cx="3810190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spc="-11" kern="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mid-tier accounts ship on time but under-fill</a:t>
            </a:r>
            <a:endParaRPr lang="en-US" sz="1069" dirty="0"/>
          </a:p>
        </p:txBody>
      </p:sp>
      <p:sp>
        <p:nvSpPr>
          <p:cNvPr id="30" name="Text 28"/>
          <p:cNvSpPr/>
          <p:nvPr/>
        </p:nvSpPr>
        <p:spPr>
          <a:xfrm>
            <a:off x="4822031" y="1790214"/>
            <a:ext cx="670843" cy="250631"/>
          </a:xfrm>
          <a:prstGeom prst="roundRect">
            <a:avLst>
              <a:gd name="adj" fmla="val 3796607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99191" y="1803016"/>
            <a:ext cx="716524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 Stores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50024" y="1790214"/>
            <a:ext cx="603758" cy="250631"/>
          </a:xfrm>
          <a:prstGeom prst="roundRect">
            <a:avLst>
              <a:gd name="adj" fmla="val 3796607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524812" y="1803016"/>
            <a:ext cx="654182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Elite Mart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10933" y="1790214"/>
            <a:ext cx="526293" cy="250631"/>
          </a:xfrm>
          <a:prstGeom prst="roundRect">
            <a:avLst>
              <a:gd name="adj" fmla="val 3796607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10933" y="1803016"/>
            <a:ext cx="52629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Sorefoz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94376" y="1790214"/>
            <a:ext cx="400943" cy="250631"/>
          </a:xfrm>
          <a:prstGeom prst="roundRect">
            <a:avLst>
              <a:gd name="adj" fmla="val 3796607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794376" y="1803016"/>
            <a:ext cx="40094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Vijay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22031" y="2163775"/>
            <a:ext cx="33167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on-time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153028" y="2113769"/>
            <a:ext cx="526628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~72%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4822031" y="2363800"/>
            <a:ext cx="3700463" cy="42863"/>
          </a:xfrm>
          <a:prstGeom prst="roundRect">
            <a:avLst>
              <a:gd name="adj" fmla="val 66666"/>
            </a:avLst>
          </a:prstGeom>
          <a:solidFill>
            <a:srgbClr val="E7E1D3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22031" y="2363800"/>
            <a:ext cx="2664284" cy="42863"/>
          </a:xfrm>
          <a:prstGeom prst="roundRect">
            <a:avLst>
              <a:gd name="adj" fmla="val 66666"/>
            </a:avLst>
          </a:prstGeom>
          <a:solidFill>
            <a:srgbClr val="FFEB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22031" y="2528106"/>
            <a:ext cx="31165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in-full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952891" y="2478100"/>
            <a:ext cx="726765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4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only </a:t>
            </a:r>
            <a:pPr algn="l" indent="0" marL="0">
              <a:lnSpc>
                <a:spcPts val="1424"/>
              </a:lnSpc>
              <a:buNone/>
            </a:pPr>
            <a:r>
              <a:rPr lang="en-US" sz="1125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~40%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22031" y="2728131"/>
            <a:ext cx="3700463" cy="42863"/>
          </a:xfrm>
          <a:prstGeom prst="roundRect">
            <a:avLst>
              <a:gd name="adj" fmla="val 66666"/>
            </a:avLst>
          </a:prstGeom>
          <a:solidFill>
            <a:srgbClr val="E7E1D3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822031" y="2728131"/>
            <a:ext cx="1480096" cy="42863"/>
          </a:xfrm>
          <a:prstGeom prst="roundRect">
            <a:avLst>
              <a:gd name="adj" fmla="val 66666"/>
            </a:avLst>
          </a:prstGeom>
          <a:solidFill>
            <a:srgbClr val="F86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822031" y="3182541"/>
            <a:ext cx="3700463" cy="264319"/>
          </a:xfrm>
          <a:prstGeom prst="roundRect">
            <a:avLst>
              <a:gd name="adj" fmla="val 32432"/>
            </a:avLst>
          </a:prstGeom>
          <a:solidFill>
            <a:srgbClr val="FBEE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22031" y="3182541"/>
            <a:ext cx="3700463" cy="289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~23%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orders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22031" y="3518297"/>
            <a:ext cx="3700463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These accounts arrive when promised — the boxes are just light</a:t>
            </a:r>
            <a:endParaRPr lang="en-US" sz="844" dirty="0"/>
          </a:p>
        </p:txBody>
      </p:sp>
      <p:sp>
        <p:nvSpPr>
          <p:cNvPr id="49" name="Text 47"/>
          <p:cNvSpPr/>
          <p:nvPr/>
        </p:nvSpPr>
        <p:spPr>
          <a:xfrm>
            <a:off x="460772" y="3889772"/>
            <a:ext cx="4021931" cy="921544"/>
          </a:xfrm>
          <a:prstGeom prst="roundRect">
            <a:avLst>
              <a:gd name="adj" fmla="val 14470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21506" y="4207669"/>
            <a:ext cx="285750" cy="285750"/>
          </a:xfrm>
          <a:prstGeom prst="roundRect">
            <a:avLst>
              <a:gd name="adj" fmla="val 36667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50438" y="423660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547" dirty="0"/>
          </a:p>
        </p:txBody>
      </p:sp>
      <p:sp>
        <p:nvSpPr>
          <p:cNvPr id="52" name="Text 50"/>
          <p:cNvSpPr/>
          <p:nvPr/>
        </p:nvSpPr>
        <p:spPr>
          <a:xfrm>
            <a:off x="1014413" y="4091583"/>
            <a:ext cx="3417284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Shortages are small and partial</a:t>
            </a:r>
            <a:endParaRPr lang="en-US" sz="956" dirty="0"/>
          </a:p>
        </p:txBody>
      </p:sp>
      <p:sp>
        <p:nvSpPr>
          <p:cNvPr id="53" name="Text 51"/>
          <p:cNvSpPr/>
          <p:nvPr/>
        </p:nvSpPr>
        <p:spPr>
          <a:xfrm>
            <a:off x="1014413" y="4309467"/>
            <a:ext cx="33075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LIFR 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66.0%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yet VOFR 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96.6%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orders are almost complete, not failed; fixing pick accuracy and SKU-level stock recovers most of the gap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661297" y="3889772"/>
            <a:ext cx="4021931" cy="921544"/>
          </a:xfrm>
          <a:prstGeom prst="roundRect">
            <a:avLst>
              <a:gd name="adj" fmla="val 14470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822031" y="4207669"/>
            <a:ext cx="285750" cy="285750"/>
          </a:xfrm>
          <a:prstGeom prst="roundRect">
            <a:avLst>
              <a:gd name="adj" fmla="val 36667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850963" y="423660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547" dirty="0"/>
          </a:p>
        </p:txBody>
      </p:sp>
      <p:sp>
        <p:nvSpPr>
          <p:cNvPr id="57" name="Text 55"/>
          <p:cNvSpPr/>
          <p:nvPr/>
        </p:nvSpPr>
        <p:spPr>
          <a:xfrm>
            <a:off x="5214938" y="4091583"/>
            <a:ext cx="3417284" cy="190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Lateness is frequent but shallow</a:t>
            </a:r>
            <a:endParaRPr lang="en-US" sz="956" dirty="0"/>
          </a:p>
        </p:txBody>
      </p:sp>
      <p:sp>
        <p:nvSpPr>
          <p:cNvPr id="58" name="Text 56"/>
          <p:cNvSpPr/>
          <p:nvPr/>
        </p:nvSpPr>
        <p:spPr>
          <a:xfrm>
            <a:off x="5214938" y="4309467"/>
            <a:ext cx="33075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28.9%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lines ship late — average 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1.7 days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never more than 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a scheduling problem, not a transport failure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0784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4" kern="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parallel workstreams, </a:t>
            </a:r>
            <a:pPr algn="l" indent="0" marL="0">
              <a:lnSpc>
                <a:spcPts val="2329"/>
              </a:lnSpc>
              <a:buNone/>
            </a:pPr>
            <a:r>
              <a:rPr lang="en-US" sz="2025" b="1" spc="-24" kern="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sequenced by account value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57200" y="956481"/>
            <a:ext cx="400050" cy="35719"/>
          </a:xfrm>
          <a:prstGeom prst="roundRect">
            <a:avLst>
              <a:gd name="adj" fmla="val 79999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149362"/>
            <a:ext cx="4021931" cy="900113"/>
          </a:xfrm>
          <a:prstGeom prst="roundRect">
            <a:avLst>
              <a:gd name="adj" fmla="val 14815"/>
            </a:avLst>
          </a:prstGeom>
          <a:solidFill>
            <a:srgbClr val="0D5C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2938" y="1413681"/>
            <a:ext cx="371475" cy="371475"/>
          </a:xfrm>
          <a:prstGeom prst="roundRect">
            <a:avLst>
              <a:gd name="adj" fmla="val 35897"/>
            </a:avLst>
          </a:prstGeom>
          <a:solidFill>
            <a:srgbClr val="FFFFFF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3657" y="1454401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2F7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969" dirty="0"/>
          </a:p>
        </p:txBody>
      </p:sp>
      <p:sp>
        <p:nvSpPr>
          <p:cNvPr id="8" name="Text 6"/>
          <p:cNvSpPr/>
          <p:nvPr/>
        </p:nvSpPr>
        <p:spPr>
          <a:xfrm>
            <a:off x="1143000" y="1390464"/>
            <a:ext cx="2890326" cy="229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-11" kern="0" dirty="0">
                <a:solidFill>
                  <a:srgbClr val="F2F7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Workstream 1 — Dispatch &amp; scheduling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143000" y="1647639"/>
            <a:ext cx="2676227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CFE0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attacks 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 A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CFE0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the on-time collapse of the big-3 chains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4654153" y="1152934"/>
            <a:ext cx="4029075" cy="892969"/>
          </a:xfrm>
          <a:prstGeom prst="roundRect">
            <a:avLst>
              <a:gd name="adj" fmla="val 14933"/>
            </a:avLst>
          </a:prstGeom>
          <a:solidFill>
            <a:srgbClr val="FBEED3"/>
          </a:solidFill>
          <a:ln w="7144">
            <a:solidFill>
              <a:srgbClr val="E8A13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43463" y="1413681"/>
            <a:ext cx="371475" cy="371475"/>
          </a:xfrm>
          <a:prstGeom prst="roundRect">
            <a:avLst>
              <a:gd name="adj" fmla="val 3589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84182" y="1454401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5343525" y="1390464"/>
            <a:ext cx="2823661" cy="229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-11" kern="0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Workstream 2 — Supply planning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5343525" y="1647639"/>
            <a:ext cx="2614501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attacks </a:t>
            </a:r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 B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the partial fills of the mid-tier accounts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460772" y="2181634"/>
            <a:ext cx="8222456" cy="626529"/>
          </a:xfrm>
          <a:prstGeom prst="roundRect">
            <a:avLst>
              <a:gd name="adj" fmla="val 21284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5794" y="2330537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5794" y="2330537"/>
            <a:ext cx="392906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069" dirty="0"/>
          </a:p>
        </p:txBody>
      </p:sp>
      <p:sp>
        <p:nvSpPr>
          <p:cNvPr id="18" name="Text 16"/>
          <p:cNvSpPr/>
          <p:nvPr/>
        </p:nvSpPr>
        <p:spPr>
          <a:xfrm>
            <a:off x="1092994" y="2314463"/>
            <a:ext cx="7015163" cy="183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 renewal conversations with the big-3 accounts first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1092994" y="2525204"/>
            <a:ext cx="70151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they are 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~30%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order volume; retention starts where the risk concentrates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36744" y="2359112"/>
            <a:ext cx="271463" cy="271463"/>
          </a:xfrm>
          <a:prstGeom prst="ellipse">
            <a:avLst/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68891" y="239125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406" dirty="0"/>
          </a:p>
        </p:txBody>
      </p:sp>
      <p:sp>
        <p:nvSpPr>
          <p:cNvPr id="22" name="Text 20"/>
          <p:cNvSpPr/>
          <p:nvPr/>
        </p:nvSpPr>
        <p:spPr>
          <a:xfrm>
            <a:off x="460772" y="2915320"/>
            <a:ext cx="8222456" cy="626529"/>
          </a:xfrm>
          <a:prstGeom prst="roundRect">
            <a:avLst>
              <a:gd name="adj" fmla="val 21284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5794" y="3064222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5794" y="3064222"/>
            <a:ext cx="392906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069" dirty="0"/>
          </a:p>
        </p:txBody>
      </p:sp>
      <p:sp>
        <p:nvSpPr>
          <p:cNvPr id="25" name="Text 23"/>
          <p:cNvSpPr/>
          <p:nvPr/>
        </p:nvSpPr>
        <p:spPr>
          <a:xfrm>
            <a:off x="1092994" y="3048149"/>
            <a:ext cx="7015163" cy="183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 a 1–2 day scheduling buffer rather than redesigning transport</a:t>
            </a:r>
            <a:endParaRPr lang="en-US" sz="956" dirty="0"/>
          </a:p>
        </p:txBody>
      </p:sp>
      <p:sp>
        <p:nvSpPr>
          <p:cNvPr id="26" name="Text 24"/>
          <p:cNvSpPr/>
          <p:nvPr/>
        </p:nvSpPr>
        <p:spPr>
          <a:xfrm>
            <a:off x="1092994" y="3258889"/>
            <a:ext cx="70151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lateness is shallow (avg 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1.7 days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never more than 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— a calendar fix, not a fleet fix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36744" y="3092797"/>
            <a:ext cx="271463" cy="271463"/>
          </a:xfrm>
          <a:prstGeom prst="ellipse">
            <a:avLst/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268891" y="312494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29" name="Text 27"/>
          <p:cNvSpPr/>
          <p:nvPr/>
        </p:nvSpPr>
        <p:spPr>
          <a:xfrm>
            <a:off x="460772" y="3649005"/>
            <a:ext cx="8222456" cy="626529"/>
          </a:xfrm>
          <a:prstGeom prst="roundRect">
            <a:avLst>
              <a:gd name="adj" fmla="val 21284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35794" y="3797908"/>
            <a:ext cx="328613" cy="328613"/>
          </a:xfrm>
          <a:prstGeom prst="roundRect">
            <a:avLst>
              <a:gd name="adj" fmla="val 34783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35794" y="3797908"/>
            <a:ext cx="392906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069" dirty="0"/>
          </a:p>
        </p:txBody>
      </p:sp>
      <p:sp>
        <p:nvSpPr>
          <p:cNvPr id="32" name="Text 30"/>
          <p:cNvSpPr/>
          <p:nvPr/>
        </p:nvSpPr>
        <p:spPr>
          <a:xfrm>
            <a:off x="1092994" y="3781834"/>
            <a:ext cx="7015163" cy="183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Hold SKU-level safety stock and review pick accuracy</a:t>
            </a:r>
            <a:endParaRPr lang="en-US" sz="956" dirty="0"/>
          </a:p>
        </p:txBody>
      </p:sp>
      <p:sp>
        <p:nvSpPr>
          <p:cNvPr id="33" name="Text 31"/>
          <p:cNvSpPr/>
          <p:nvPr/>
        </p:nvSpPr>
        <p:spPr>
          <a:xfrm>
            <a:off x="1092994" y="3992575"/>
            <a:ext cx="70151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shortfalls are small and partial (VOFR 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96.6%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), so warehouse discipline recovers most of the in-full gap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36744" y="3826483"/>
            <a:ext cx="271463" cy="271463"/>
          </a:xfrm>
          <a:prstGeom prst="ellipse">
            <a:avLst/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268891" y="3858630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⌂</a:t>
            </a:r>
            <a:endParaRPr lang="en-US" sz="1406" dirty="0"/>
          </a:p>
        </p:txBody>
      </p:sp>
      <p:sp>
        <p:nvSpPr>
          <p:cNvPr id="36" name="Text 34"/>
          <p:cNvSpPr/>
          <p:nvPr/>
        </p:nvSpPr>
        <p:spPr>
          <a:xfrm>
            <a:off x="457200" y="4407694"/>
            <a:ext cx="8229600" cy="407194"/>
          </a:xfrm>
          <a:prstGeom prst="roundRect">
            <a:avLst>
              <a:gd name="adj" fmla="val 32749"/>
            </a:avLst>
          </a:prstGeom>
          <a:solidFill>
            <a:srgbClr val="0D5C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42938" y="452556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2F7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688" dirty="0"/>
          </a:p>
        </p:txBody>
      </p:sp>
      <p:sp>
        <p:nvSpPr>
          <p:cNvPr id="38" name="Text 36"/>
          <p:cNvSpPr/>
          <p:nvPr/>
        </p:nvSpPr>
        <p:spPr>
          <a:xfrm>
            <a:off x="914400" y="4514850"/>
            <a:ext cx="75866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0" kern="0" dirty="0">
                <a:solidFill>
                  <a:srgbClr val="F2F7F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Pilot the fixes in Vadodara — the weakest and highest-volume city — before scaling to the expansion metros.</a:t>
            </a:r>
            <a:endParaRPr lang="en-US" sz="101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SHIPS WITH THE PROJECT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60784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4" kern="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Verified numbers</a:t>
            </a:r>
            <a:pPr algn="l" indent="0" marL="0">
              <a:lnSpc>
                <a:spcPts val="2329"/>
              </a:lnSpc>
              <a:buNone/>
            </a:pPr>
            <a:r>
              <a:rPr lang="en-US" sz="2025" b="1" spc="-24" kern="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open artifacts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57200" y="956481"/>
            <a:ext cx="400050" cy="35719"/>
          </a:xfrm>
          <a:prstGeom prst="roundRect">
            <a:avLst>
              <a:gd name="adj" fmla="val 79999"/>
            </a:avLst>
          </a:prstGeom>
          <a:solidFill>
            <a:srgbClr val="E8A1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0772" y="1152934"/>
            <a:ext cx="4848262" cy="1852799"/>
          </a:xfrm>
          <a:prstGeom prst="roundRect">
            <a:avLst>
              <a:gd name="adj" fmla="val 7197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0081" y="1495276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7" name="Text 5"/>
          <p:cNvSpPr/>
          <p:nvPr/>
        </p:nvSpPr>
        <p:spPr>
          <a:xfrm>
            <a:off x="828675" y="1497062"/>
            <a:ext cx="42910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9" kern="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VERIFIED NUMBERS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0081" y="1731020"/>
            <a:ext cx="1274802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59.0</a:t>
            </a:r>
            <a:pPr algn="l" indent="0" marL="0">
              <a:lnSpc>
                <a:spcPts val="1688"/>
              </a:lnSpc>
              <a:buNone/>
            </a:pPr>
            <a:r>
              <a:rPr lang="en-US" sz="956" b="1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%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650081" y="1973907"/>
            <a:ext cx="12748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95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450404" y="1731020"/>
            <a:ext cx="0" cy="355402"/>
          </a:xfrm>
          <a:prstGeom prst="line">
            <a:avLst/>
          </a:prstGeom>
          <a:noFill/>
          <a:ln w="7144">
            <a:solidFill>
              <a:srgbClr val="E7E1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68276" y="1731020"/>
            <a:ext cx="796863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52.8</a:t>
            </a:r>
            <a:pPr algn="l" indent="0" marL="0">
              <a:lnSpc>
                <a:spcPts val="1688"/>
              </a:lnSpc>
              <a:buNone/>
            </a:pPr>
            <a:r>
              <a:rPr lang="en-US" sz="956" b="1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%</a:t>
            </a:r>
            <a:endParaRPr lang="en-US" sz="1688" dirty="0"/>
          </a:p>
        </p:txBody>
      </p:sp>
      <p:sp>
        <p:nvSpPr>
          <p:cNvPr id="12" name="Text 10"/>
          <p:cNvSpPr/>
          <p:nvPr/>
        </p:nvSpPr>
        <p:spPr>
          <a:xfrm>
            <a:off x="1568276" y="1973907"/>
            <a:ext cx="79686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95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IF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68711" y="1731020"/>
            <a:ext cx="0" cy="355402"/>
          </a:xfrm>
          <a:prstGeom prst="line">
            <a:avLst/>
          </a:prstGeom>
          <a:noFill/>
          <a:ln w="7144">
            <a:solidFill>
              <a:srgbClr val="E7E1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6583" y="1731020"/>
            <a:ext cx="796751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29.0</a:t>
            </a:r>
            <a:pPr algn="l" indent="0" marL="0">
              <a:lnSpc>
                <a:spcPts val="1688"/>
              </a:lnSpc>
              <a:buNone/>
            </a:pPr>
            <a:r>
              <a:rPr lang="en-US" sz="956" b="1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%</a:t>
            </a:r>
            <a:endParaRPr lang="en-US" sz="1688" dirty="0"/>
          </a:p>
        </p:txBody>
      </p:sp>
      <p:sp>
        <p:nvSpPr>
          <p:cNvPr id="15" name="Text 13"/>
          <p:cNvSpPr/>
          <p:nvPr/>
        </p:nvSpPr>
        <p:spPr>
          <a:xfrm>
            <a:off x="2486583" y="1973907"/>
            <a:ext cx="79675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95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OTIF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86906" y="1731020"/>
            <a:ext cx="0" cy="355402"/>
          </a:xfrm>
          <a:prstGeom prst="line">
            <a:avLst/>
          </a:prstGeom>
          <a:noFill/>
          <a:ln w="7144">
            <a:solidFill>
              <a:srgbClr val="E7E1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4778" y="1731020"/>
            <a:ext cx="796751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66.0</a:t>
            </a:r>
            <a:pPr algn="l" indent="0" marL="0">
              <a:lnSpc>
                <a:spcPts val="1688"/>
              </a:lnSpc>
              <a:buNone/>
            </a:pPr>
            <a:r>
              <a:rPr lang="en-US" sz="956" b="1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%</a:t>
            </a:r>
            <a:endParaRPr lang="en-US" sz="1688" dirty="0"/>
          </a:p>
        </p:txBody>
      </p:sp>
      <p:sp>
        <p:nvSpPr>
          <p:cNvPr id="18" name="Text 16"/>
          <p:cNvSpPr/>
          <p:nvPr/>
        </p:nvSpPr>
        <p:spPr>
          <a:xfrm>
            <a:off x="3404778" y="1973907"/>
            <a:ext cx="79675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95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LIFR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05101" y="1731020"/>
            <a:ext cx="0" cy="355402"/>
          </a:xfrm>
          <a:prstGeom prst="line">
            <a:avLst/>
          </a:prstGeom>
          <a:noFill/>
          <a:ln w="7144">
            <a:solidFill>
              <a:srgbClr val="E7E1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22973" y="1731020"/>
            <a:ext cx="796751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0D5C4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96.6</a:t>
            </a:r>
            <a:pPr algn="l" indent="0" marL="0">
              <a:lnSpc>
                <a:spcPts val="1688"/>
              </a:lnSpc>
              <a:buNone/>
            </a:pPr>
            <a:r>
              <a:rPr lang="en-US" sz="956" b="1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%</a:t>
            </a:r>
            <a:endParaRPr lang="en-US" sz="1688" dirty="0"/>
          </a:p>
        </p:txBody>
      </p:sp>
      <p:sp>
        <p:nvSpPr>
          <p:cNvPr id="21" name="Text 19"/>
          <p:cNvSpPr/>
          <p:nvPr/>
        </p:nvSpPr>
        <p:spPr>
          <a:xfrm>
            <a:off x="4322973" y="1973907"/>
            <a:ext cx="79675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95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VOFR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0081" y="2193578"/>
            <a:ext cx="4469643" cy="7144"/>
          </a:xfrm>
          <a:prstGeom prst="rect">
            <a:avLst/>
          </a:prstGeom>
          <a:solidFill>
            <a:srgbClr val="E7E1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0081" y="2307878"/>
            <a:ext cx="1083582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31,729</a:t>
            </a:r>
            <a:endParaRPr lang="en-US" sz="1688" dirty="0"/>
          </a:p>
        </p:txBody>
      </p:sp>
      <p:sp>
        <p:nvSpPr>
          <p:cNvPr id="24" name="Text 22"/>
          <p:cNvSpPr/>
          <p:nvPr/>
        </p:nvSpPr>
        <p:spPr>
          <a:xfrm>
            <a:off x="650081" y="2550765"/>
            <a:ext cx="11139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95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ORDERS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450404" y="2307878"/>
            <a:ext cx="0" cy="355402"/>
          </a:xfrm>
          <a:prstGeom prst="line">
            <a:avLst/>
          </a:prstGeom>
          <a:noFill/>
          <a:ln w="7144">
            <a:solidFill>
              <a:srgbClr val="E7E1D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80326" y="2307878"/>
            <a:ext cx="972764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57,096</a:t>
            </a:r>
            <a:endParaRPr lang="en-US" sz="1688" dirty="0"/>
          </a:p>
        </p:txBody>
      </p:sp>
      <p:sp>
        <p:nvSpPr>
          <p:cNvPr id="27" name="Text 25"/>
          <p:cNvSpPr/>
          <p:nvPr/>
        </p:nvSpPr>
        <p:spPr>
          <a:xfrm>
            <a:off x="1568276" y="2550765"/>
            <a:ext cx="79686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95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368711" y="2307878"/>
            <a:ext cx="0" cy="355402"/>
          </a:xfrm>
          <a:prstGeom prst="line">
            <a:avLst/>
          </a:prstGeom>
          <a:noFill/>
          <a:ln w="7144">
            <a:solidFill>
              <a:srgbClr val="E7E1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86583" y="2307878"/>
            <a:ext cx="796751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</a:t>
            </a:r>
            <a:endParaRPr lang="en-US" sz="1688" dirty="0"/>
          </a:p>
        </p:txBody>
      </p:sp>
      <p:sp>
        <p:nvSpPr>
          <p:cNvPr id="30" name="Text 28"/>
          <p:cNvSpPr/>
          <p:nvPr/>
        </p:nvSpPr>
        <p:spPr>
          <a:xfrm>
            <a:off x="2486583" y="2550765"/>
            <a:ext cx="79675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95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86906" y="2307878"/>
            <a:ext cx="0" cy="355402"/>
          </a:xfrm>
          <a:prstGeom prst="line">
            <a:avLst/>
          </a:prstGeom>
          <a:noFill/>
          <a:ln w="7144">
            <a:solidFill>
              <a:srgbClr val="E7E1D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4778" y="2307878"/>
            <a:ext cx="796751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endParaRPr lang="en-US" sz="1688" dirty="0"/>
          </a:p>
        </p:txBody>
      </p:sp>
      <p:sp>
        <p:nvSpPr>
          <p:cNvPr id="33" name="Text 31"/>
          <p:cNvSpPr/>
          <p:nvPr/>
        </p:nvSpPr>
        <p:spPr>
          <a:xfrm>
            <a:off x="3404778" y="2550765"/>
            <a:ext cx="79675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95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205101" y="2307878"/>
            <a:ext cx="0" cy="355402"/>
          </a:xfrm>
          <a:prstGeom prst="line">
            <a:avLst/>
          </a:prstGeom>
          <a:noFill/>
          <a:ln w="7144">
            <a:solidFill>
              <a:srgbClr val="E7E1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22973" y="2307878"/>
            <a:ext cx="796751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688" dirty="0"/>
          </a:p>
        </p:txBody>
      </p:sp>
      <p:sp>
        <p:nvSpPr>
          <p:cNvPr id="36" name="Text 34"/>
          <p:cNvSpPr/>
          <p:nvPr/>
        </p:nvSpPr>
        <p:spPr>
          <a:xfrm>
            <a:off x="4322973" y="2550765"/>
            <a:ext cx="79675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95" kern="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TABLES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0772" y="3127177"/>
            <a:ext cx="2377641" cy="495598"/>
          </a:xfrm>
          <a:prstGeom prst="roundRect">
            <a:avLst>
              <a:gd name="adj" fmla="val 26907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78644" y="323210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07576" y="326103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547" dirty="0"/>
          </a:p>
        </p:txBody>
      </p:sp>
      <p:sp>
        <p:nvSpPr>
          <p:cNvPr id="40" name="Text 38"/>
          <p:cNvSpPr/>
          <p:nvPr/>
        </p:nvSpPr>
        <p:spPr>
          <a:xfrm>
            <a:off x="950119" y="3223617"/>
            <a:ext cx="997894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 Query (M)</a:t>
            </a:r>
            <a:endParaRPr lang="en-US" sz="844" dirty="0"/>
          </a:p>
        </p:txBody>
      </p:sp>
      <p:sp>
        <p:nvSpPr>
          <p:cNvPr id="41" name="Text 39"/>
          <p:cNvSpPr/>
          <p:nvPr/>
        </p:nvSpPr>
        <p:spPr>
          <a:xfrm>
            <a:off x="950119" y="3405783"/>
            <a:ext cx="997894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03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cleaning &amp; shaping</a:t>
            </a:r>
            <a:endParaRPr lang="en-US" sz="703" dirty="0"/>
          </a:p>
        </p:txBody>
      </p:sp>
      <p:sp>
        <p:nvSpPr>
          <p:cNvPr id="42" name="Text 40"/>
          <p:cNvSpPr/>
          <p:nvPr/>
        </p:nvSpPr>
        <p:spPr>
          <a:xfrm>
            <a:off x="2931282" y="3127177"/>
            <a:ext cx="2377753" cy="495598"/>
          </a:xfrm>
          <a:prstGeom prst="roundRect">
            <a:avLst>
              <a:gd name="adj" fmla="val 26907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049153" y="323210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078086" y="326103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45" name="Text 43"/>
          <p:cNvSpPr/>
          <p:nvPr/>
        </p:nvSpPr>
        <p:spPr>
          <a:xfrm>
            <a:off x="3420628" y="3223617"/>
            <a:ext cx="1067752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 BI Desktop</a:t>
            </a:r>
            <a:endParaRPr lang="en-US" sz="844" dirty="0"/>
          </a:p>
        </p:txBody>
      </p:sp>
      <p:sp>
        <p:nvSpPr>
          <p:cNvPr id="46" name="Text 44"/>
          <p:cNvSpPr/>
          <p:nvPr/>
        </p:nvSpPr>
        <p:spPr>
          <a:xfrm>
            <a:off x="3420628" y="3405783"/>
            <a:ext cx="1067752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 schema + DAX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0772" y="3715643"/>
            <a:ext cx="2377641" cy="495598"/>
          </a:xfrm>
          <a:prstGeom prst="roundRect">
            <a:avLst>
              <a:gd name="adj" fmla="val 26907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78644" y="3820567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07576" y="384949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50" name="Text 48"/>
          <p:cNvSpPr/>
          <p:nvPr/>
        </p:nvSpPr>
        <p:spPr>
          <a:xfrm>
            <a:off x="950119" y="3812084"/>
            <a:ext cx="970030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Python / pandas</a:t>
            </a:r>
            <a:endParaRPr lang="en-US" sz="844" dirty="0"/>
          </a:p>
        </p:txBody>
      </p:sp>
      <p:sp>
        <p:nvSpPr>
          <p:cNvPr id="51" name="Text 49"/>
          <p:cNvSpPr/>
          <p:nvPr/>
        </p:nvSpPr>
        <p:spPr>
          <a:xfrm>
            <a:off x="950119" y="3994249"/>
            <a:ext cx="970030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verification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931282" y="3715643"/>
            <a:ext cx="2377753" cy="495598"/>
          </a:xfrm>
          <a:prstGeom prst="roundRect">
            <a:avLst>
              <a:gd name="adj" fmla="val 26907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049153" y="3820567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078086" y="384949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547" dirty="0"/>
          </a:p>
        </p:txBody>
      </p:sp>
      <p:sp>
        <p:nvSpPr>
          <p:cNvPr id="55" name="Text 53"/>
          <p:cNvSpPr/>
          <p:nvPr/>
        </p:nvSpPr>
        <p:spPr>
          <a:xfrm>
            <a:off x="3420628" y="3812084"/>
            <a:ext cx="1707462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Markdown docs</a:t>
            </a:r>
            <a:endParaRPr lang="en-US" sz="844" dirty="0"/>
          </a:p>
        </p:txBody>
      </p:sp>
      <p:sp>
        <p:nvSpPr>
          <p:cNvPr id="56" name="Text 54"/>
          <p:cNvSpPr/>
          <p:nvPr/>
        </p:nvSpPr>
        <p:spPr>
          <a:xfrm>
            <a:off x="3420628" y="3994249"/>
            <a:ext cx="1573429" cy="120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03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measures reference + project journal</a:t>
            </a:r>
            <a:endParaRPr lang="en-US" sz="703" dirty="0"/>
          </a:p>
        </p:txBody>
      </p:sp>
      <p:sp>
        <p:nvSpPr>
          <p:cNvPr id="57" name="Text 55"/>
          <p:cNvSpPr/>
          <p:nvPr/>
        </p:nvSpPr>
        <p:spPr>
          <a:xfrm>
            <a:off x="457200" y="4329113"/>
            <a:ext cx="4855406" cy="485775"/>
          </a:xfrm>
          <a:prstGeom prst="roundRect">
            <a:avLst>
              <a:gd name="adj" fmla="val 23529"/>
            </a:avLst>
          </a:prstGeom>
          <a:solidFill>
            <a:srgbClr val="DEEB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85788" y="4496991"/>
            <a:ext cx="1500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77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477" dirty="0"/>
          </a:p>
        </p:txBody>
      </p:sp>
      <p:sp>
        <p:nvSpPr>
          <p:cNvPr id="59" name="Text 57"/>
          <p:cNvSpPr/>
          <p:nvPr/>
        </p:nvSpPr>
        <p:spPr>
          <a:xfrm>
            <a:off x="821531" y="4421981"/>
            <a:ext cx="436248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repo ships the 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.pbix dashboard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the 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0302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source CSVs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a full 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 report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an executive deck, and the 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docs/ journal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544778" y="1152934"/>
            <a:ext cx="3138450" cy="1778794"/>
          </a:xfrm>
          <a:prstGeom prst="roundRect">
            <a:avLst>
              <a:gd name="adj" fmla="val 6426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  <a:effectLst>
            <a:outerShdw sx="100000" sy="100000" kx="0" ky="0" algn="bl" rotWithShape="0" blurRad="266700" dist="95250" dir="5400000">
              <a:srgbClr val="20302C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1" name="Image 0" descr="/tmp/h2p-fit-1790422599398-12ha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212" y="1199369"/>
            <a:ext cx="3045582" cy="1685925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5541206" y="2999594"/>
            <a:ext cx="3397242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Page 5 documents the model so anyone can audit it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5544778" y="3242481"/>
            <a:ext cx="3138450" cy="1583345"/>
          </a:xfrm>
          <a:prstGeom prst="roundRect">
            <a:avLst>
              <a:gd name="adj" fmla="val 8422"/>
            </a:avLst>
          </a:prstGeom>
          <a:solidFill>
            <a:srgbClr val="FFFFFF"/>
          </a:solidFill>
          <a:ln w="7144">
            <a:solidFill>
              <a:srgbClr val="E7E1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5705512" y="3374641"/>
            <a:ext cx="2816982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spc="-11" kern="0" dirty="0">
                <a:solidFill>
                  <a:srgbClr val="20302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Rishab Arya — Data Analyst</a:t>
            </a:r>
            <a:endParaRPr lang="en-US" sz="1125" dirty="0"/>
          </a:p>
        </p:txBody>
      </p:sp>
      <p:sp>
        <p:nvSpPr>
          <p:cNvPr id="65" name="Text 62"/>
          <p:cNvSpPr/>
          <p:nvPr/>
        </p:nvSpPr>
        <p:spPr>
          <a:xfrm>
            <a:off x="5705512" y="3617528"/>
            <a:ext cx="29267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M.Tech Data Science candidate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5705512" y="385863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67" name="Text 64"/>
          <p:cNvSpPr/>
          <p:nvPr/>
        </p:nvSpPr>
        <p:spPr>
          <a:xfrm>
            <a:off x="5884106" y="3856844"/>
            <a:ext cx="26383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github.com/Rishabharya810/FMCG-Supply-Chain-Dashboard</a:t>
            </a:r>
            <a:endParaRPr lang="en-US" sz="619" dirty="0"/>
          </a:p>
        </p:txBody>
      </p:sp>
      <p:sp>
        <p:nvSpPr>
          <p:cNvPr id="68" name="Text 65"/>
          <p:cNvSpPr/>
          <p:nvPr/>
        </p:nvSpPr>
        <p:spPr>
          <a:xfrm>
            <a:off x="5705512" y="402650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D5C4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69" name="Text 66"/>
          <p:cNvSpPr/>
          <p:nvPr/>
        </p:nvSpPr>
        <p:spPr>
          <a:xfrm>
            <a:off x="5884106" y="4024722"/>
            <a:ext cx="26383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D5C4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linkedin.com/in/rishab-arya-4a84481b1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5705512" y="4246178"/>
            <a:ext cx="2816982" cy="0"/>
          </a:xfrm>
          <a:prstGeom prst="line">
            <a:avLst/>
          </a:prstGeom>
          <a:noFill/>
          <a:ln w="7144">
            <a:solidFill>
              <a:srgbClr val="E7E1D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705512" y="4242606"/>
            <a:ext cx="2816982" cy="451061"/>
          </a:xfrm>
          <a:prstGeom prst="rect">
            <a:avLst/>
          </a:prstGeom>
          <a:noFill/>
          <a:ln/>
        </p:spPr>
        <p:txBody>
          <a:bodyPr wrap="square" lIns="0" tIns="78581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5E6E6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Scenario &amp; data: Codebasics Resume Project Challenge #2 — AtliQ Mart (codebasics.io). Dashboard design, analysis, and insights are the author's own work.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2026-09-26T11:36:43Z</dcterms:created>
  <dcterms:modified xsi:type="dcterms:W3CDTF">2026-09-26T11:36:43Z</dcterms:modified>
</cp:coreProperties>
</file>